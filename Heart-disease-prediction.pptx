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56" r:id="rId2"/>
    <p:sldId id="273" r:id="rId3"/>
    <p:sldId id="262" r:id="rId4"/>
    <p:sldId id="257" r:id="rId5"/>
    <p:sldId id="263" r:id="rId6"/>
    <p:sldId id="259" r:id="rId7"/>
    <p:sldId id="264" r:id="rId8"/>
    <p:sldId id="258" r:id="rId9"/>
    <p:sldId id="260" r:id="rId10"/>
    <p:sldId id="274" r:id="rId11"/>
    <p:sldId id="265" r:id="rId12"/>
    <p:sldId id="266" r:id="rId13"/>
    <p:sldId id="267" r:id="rId14"/>
    <p:sldId id="276" r:id="rId15"/>
    <p:sldId id="268" r:id="rId16"/>
    <p:sldId id="275" r:id="rId17"/>
    <p:sldId id="270" r:id="rId18"/>
    <p:sldId id="271" r:id="rId19"/>
    <p:sldId id="26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E5670E-4CAD-4EFC-8034-A2F35D82EE57}" v="97" dt="2025-04-16T09:17:25.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5" autoAdjust="0"/>
    <p:restoredTop sz="94660"/>
  </p:normalViewPr>
  <p:slideViewPr>
    <p:cSldViewPr snapToGrid="0">
      <p:cViewPr varScale="1">
        <p:scale>
          <a:sx n="78" d="100"/>
          <a:sy n="78" d="100"/>
        </p:scale>
        <p:origin x="744"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857D37-2EA0-44BD-9120-643B5726F49E}" type="datetimeFigureOut">
              <a:rPr lang="en-US" smtClean="0"/>
              <a:t>4/18/2025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EEF0BB-0CD3-43A2-8446-0ED63AF40C7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EEF0BB-0CD3-43A2-8446-0ED63AF40C77}" type="slidenum">
              <a:rPr lang="en-US" smtClean="0"/>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5228-D5E5-582F-28CC-BE74491E45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1B496E-4AAC-75B6-2A60-D7C904028D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F11CE3-B9E9-225C-8ED8-5B019ACD4CBD}"/>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5" name="Footer Placeholder 4">
            <a:extLst>
              <a:ext uri="{FF2B5EF4-FFF2-40B4-BE49-F238E27FC236}">
                <a16:creationId xmlns:a16="http://schemas.microsoft.com/office/drawing/2014/main" id="{354D3C96-5DEE-C968-64AA-3FDA5198D3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90DD8-8933-7FBE-16D7-45E0C8DBCBB1}"/>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1884295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2359B-C649-44F1-292C-2006A8F42B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B71EA9-3FFA-8C25-B3CD-9A42E24A0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27A249-5E31-6736-277C-075733C3A425}"/>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5" name="Footer Placeholder 4">
            <a:extLst>
              <a:ext uri="{FF2B5EF4-FFF2-40B4-BE49-F238E27FC236}">
                <a16:creationId xmlns:a16="http://schemas.microsoft.com/office/drawing/2014/main" id="{9F2BE030-16BF-8B1C-E61B-6F77341546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FC93F4-8F10-1D00-B843-F9DCA442E218}"/>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1078157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E160D-5B0E-DD5E-6B5A-F24FC5C2DB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0909E4-7A73-8DE2-3836-D3B93A2966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326243-920E-2B83-EF23-BBD7890A0B5D}"/>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5" name="Footer Placeholder 4">
            <a:extLst>
              <a:ext uri="{FF2B5EF4-FFF2-40B4-BE49-F238E27FC236}">
                <a16:creationId xmlns:a16="http://schemas.microsoft.com/office/drawing/2014/main" id="{763A3C62-87E0-7944-246C-339B2894E3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4DF8D7-6D8A-071E-061C-6C64567489AC}"/>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2593266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2FCB6-39F0-0EE9-C380-CDC7B47EA3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2F5524-0611-4543-1015-3B39589196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90BC4E-D307-36AE-DCA1-DA929A5FDF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ACAF83-77AB-2FA4-B9AE-D3EB5DE56646}"/>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6" name="Footer Placeholder 5">
            <a:extLst>
              <a:ext uri="{FF2B5EF4-FFF2-40B4-BE49-F238E27FC236}">
                <a16:creationId xmlns:a16="http://schemas.microsoft.com/office/drawing/2014/main" id="{EC835884-6C66-A1D5-E439-E033493855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15BF7A-E2EC-9079-78B9-932680BB5BAA}"/>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1583536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B1887-A57F-AEB0-A76E-A29715D665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FFEC0D-E490-9358-E351-7A1CEC831A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FB4D22-9E2B-A160-4D4D-C78C9C0808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E390AC-18BB-4ECE-D683-D15D2A1628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D5656-E0B9-CFD5-8F72-23D24AACBC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B549C0A-059F-B302-233B-E4D8796CBFAC}"/>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8" name="Footer Placeholder 7">
            <a:extLst>
              <a:ext uri="{FF2B5EF4-FFF2-40B4-BE49-F238E27FC236}">
                <a16:creationId xmlns:a16="http://schemas.microsoft.com/office/drawing/2014/main" id="{C5CB4C40-E88F-556D-E609-28070E9516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151A6E-79BB-13AB-664A-96FFFE72F72A}"/>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2510215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BD2B-8202-49C8-D900-9C3506B721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662A25-8981-33D0-F11F-3265BE51807B}"/>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4" name="Footer Placeholder 3">
            <a:extLst>
              <a:ext uri="{FF2B5EF4-FFF2-40B4-BE49-F238E27FC236}">
                <a16:creationId xmlns:a16="http://schemas.microsoft.com/office/drawing/2014/main" id="{78EF593E-1BF4-1412-B0B4-8D2D81D38A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3462B9-26F8-285B-1EC2-A1F6B2C02006}"/>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453030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ED3FC-3BDE-C535-B905-5DEE286EAC2D}"/>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3" name="Footer Placeholder 2">
            <a:extLst>
              <a:ext uri="{FF2B5EF4-FFF2-40B4-BE49-F238E27FC236}">
                <a16:creationId xmlns:a16="http://schemas.microsoft.com/office/drawing/2014/main" id="{F8E9CDD7-9BE2-22CA-28FF-750AE1070B2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0EEA40C-34C1-82E1-ABFD-891B9454E29D}"/>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304807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9A30E-C3B5-474F-9D45-7FFFE9A968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F579FC-F240-BCF0-EB3A-F4A0D47927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C85620-1388-D588-A446-7E9AF3F3B9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5D1E05-E966-685C-34B4-85F3824116C1}"/>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6" name="Footer Placeholder 5">
            <a:extLst>
              <a:ext uri="{FF2B5EF4-FFF2-40B4-BE49-F238E27FC236}">
                <a16:creationId xmlns:a16="http://schemas.microsoft.com/office/drawing/2014/main" id="{5696F3C6-89C3-89C1-DE01-E6BD4E8D24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BB0040-B749-3B64-700F-B00D73D7AF5F}"/>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4021256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6EF85-3836-0E23-0B7D-E4DFD68F0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14462B-5415-9461-7BA5-FA6AF0AF1D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4605785-AD50-49BF-82D3-A9ED2FA57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E70FC1-B742-456F-054F-B0D5E7696254}"/>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6" name="Footer Placeholder 5">
            <a:extLst>
              <a:ext uri="{FF2B5EF4-FFF2-40B4-BE49-F238E27FC236}">
                <a16:creationId xmlns:a16="http://schemas.microsoft.com/office/drawing/2014/main" id="{8ED5B540-F3FA-5B1F-D542-741680703D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6CAC8C-8FE9-C6A9-592C-951A4F626E83}"/>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1402412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129F3-FB86-23FD-F257-10BCF162BE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65E11E-FC63-392F-FCC9-983235A110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2A7A19-2334-1DDF-9A20-AC6729E2BA2C}"/>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5" name="Footer Placeholder 4">
            <a:extLst>
              <a:ext uri="{FF2B5EF4-FFF2-40B4-BE49-F238E27FC236}">
                <a16:creationId xmlns:a16="http://schemas.microsoft.com/office/drawing/2014/main" id="{A2D76BEC-DE4F-8451-A8F6-1FEDDCD03A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18987-52FF-A7E5-9FD2-E7559E3009BE}"/>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267032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D49614-95EE-6B17-7177-36914C4080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2F386F-802B-8D30-9134-20ADAFCF77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81A759-439B-B92A-1978-14FDC3D56F66}"/>
              </a:ext>
            </a:extLst>
          </p:cNvPr>
          <p:cNvSpPr>
            <a:spLocks noGrp="1"/>
          </p:cNvSpPr>
          <p:nvPr>
            <p:ph type="dt" sz="half" idx="10"/>
          </p:nvPr>
        </p:nvSpPr>
        <p:spPr/>
        <p:txBody>
          <a:bodyPr/>
          <a:lstStyle/>
          <a:p>
            <a:fld id="{8430EECB-07B4-402B-AE30-95F98A36B8A5}" type="datetimeFigureOut">
              <a:rPr lang="en-IN" smtClean="0"/>
              <a:pPr/>
              <a:t>18-04-2025</a:t>
            </a:fld>
            <a:endParaRPr lang="en-IN"/>
          </a:p>
        </p:txBody>
      </p:sp>
      <p:sp>
        <p:nvSpPr>
          <p:cNvPr id="5" name="Footer Placeholder 4">
            <a:extLst>
              <a:ext uri="{FF2B5EF4-FFF2-40B4-BE49-F238E27FC236}">
                <a16:creationId xmlns:a16="http://schemas.microsoft.com/office/drawing/2014/main" id="{311ADD02-F52F-61A0-1AE6-BB47006AA5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4E01B7-4BEA-7210-8C65-FAAA9E3D1B66}"/>
              </a:ext>
            </a:extLst>
          </p:cNvPr>
          <p:cNvSpPr>
            <a:spLocks noGrp="1"/>
          </p:cNvSpPr>
          <p:nvPr>
            <p:ph type="sldNum" sz="quarter" idx="12"/>
          </p:nvPr>
        </p:nvSpPr>
        <p:spPr/>
        <p:txBody>
          <a:bodyPr/>
          <a:lstStyle/>
          <a:p>
            <a:fld id="{71ABE28C-AAF2-49E4-B6E1-683F50C37440}" type="slidenum">
              <a:rPr lang="en-IN" smtClean="0"/>
              <a:pPr/>
              <a:t>‹#›</a:t>
            </a:fld>
            <a:endParaRPr lang="en-IN"/>
          </a:p>
        </p:txBody>
      </p:sp>
    </p:spTree>
    <p:extLst>
      <p:ext uri="{BB962C8B-B14F-4D97-AF65-F5344CB8AC3E}">
        <p14:creationId xmlns:p14="http://schemas.microsoft.com/office/powerpoint/2010/main" val="2407970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91D81-C46B-9B0C-34C3-F9DE66B30C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756131-2C68-28A6-D5CC-0CD9A2DC63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0AE1F2-3050-8DEC-F3F0-195A5E146E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30EECB-07B4-402B-AE30-95F98A36B8A5}" type="datetimeFigureOut">
              <a:rPr lang="en-IN" smtClean="0"/>
              <a:pPr/>
              <a:t>18-04-2025</a:t>
            </a:fld>
            <a:endParaRPr lang="en-IN"/>
          </a:p>
        </p:txBody>
      </p:sp>
      <p:sp>
        <p:nvSpPr>
          <p:cNvPr id="5" name="Footer Placeholder 4">
            <a:extLst>
              <a:ext uri="{FF2B5EF4-FFF2-40B4-BE49-F238E27FC236}">
                <a16:creationId xmlns:a16="http://schemas.microsoft.com/office/drawing/2014/main" id="{A8CA02AA-D401-02B7-67C0-1CC4CDEE76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22873E3-2525-D425-AE79-76DA47919B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ABE28C-AAF2-49E4-B6E1-683F50C37440}" type="slidenum">
              <a:rPr lang="en-IN" smtClean="0"/>
              <a:pPr/>
              <a:t>‹#›</a:t>
            </a:fld>
            <a:endParaRPr lang="en-IN"/>
          </a:p>
        </p:txBody>
      </p:sp>
    </p:spTree>
    <p:extLst>
      <p:ext uri="{BB962C8B-B14F-4D97-AF65-F5344CB8AC3E}">
        <p14:creationId xmlns:p14="http://schemas.microsoft.com/office/powerpoint/2010/main" val="328067167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kaggle.com/datasets/johnsmith88/heart-disease-datase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ieeexplore.ieee.org/document/9936861" TargetMode="External"/><Relationship Id="rId7" Type="http://schemas.openxmlformats.org/officeDocument/2006/relationships/hyperlink" Target="https://ieeexplore.ieee.org/document/10928111" TargetMode="External"/><Relationship Id="rId2" Type="http://schemas.openxmlformats.org/officeDocument/2006/relationships/hyperlink" Target="https://ieeexplore.ieee.org/document/10691373" TargetMode="External"/><Relationship Id="rId1" Type="http://schemas.openxmlformats.org/officeDocument/2006/relationships/slideLayout" Target="../slideLayouts/slideLayout2.xml"/><Relationship Id="rId6" Type="http://schemas.openxmlformats.org/officeDocument/2006/relationships/hyperlink" Target="https://ieeexplore.ieee.org/document/10762500" TargetMode="External"/><Relationship Id="rId5" Type="http://schemas.openxmlformats.org/officeDocument/2006/relationships/hyperlink" Target="https://ieeexplore.ieee.org/document/10919829" TargetMode="External"/><Relationship Id="rId4" Type="http://schemas.openxmlformats.org/officeDocument/2006/relationships/hyperlink" Target="https://ieeexplore.ieee.org/document/10677689"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77E05-3C5F-7FE8-FBB0-135BF07D0A2C}"/>
              </a:ext>
            </a:extLst>
          </p:cNvPr>
          <p:cNvSpPr>
            <a:spLocks noGrp="1"/>
          </p:cNvSpPr>
          <p:nvPr>
            <p:ph type="ctrTitle"/>
          </p:nvPr>
        </p:nvSpPr>
        <p:spPr>
          <a:xfrm>
            <a:off x="1176949" y="2037029"/>
            <a:ext cx="9343177" cy="832920"/>
          </a:xfrm>
        </p:spPr>
        <p:txBody>
          <a:bodyPr>
            <a:normAutofit/>
          </a:bodyPr>
          <a:lstStyle/>
          <a:p>
            <a:pPr algn="just">
              <a:lnSpc>
                <a:spcPct val="100000"/>
              </a:lnSpc>
            </a:pPr>
            <a:r>
              <a:rPr lang="en-IN" sz="4000" b="1" dirty="0">
                <a:latin typeface="Times New Roman" panose="02020603050405020304" pitchFamily="18" charset="0"/>
                <a:cs typeface="Times New Roman" panose="02020603050405020304" pitchFamily="18" charset="0"/>
              </a:rPr>
              <a:t>		</a:t>
            </a:r>
          </a:p>
        </p:txBody>
      </p:sp>
      <p:pic>
        <p:nvPicPr>
          <p:cNvPr id="7" name="Picture 2">
            <a:extLst>
              <a:ext uri="{FF2B5EF4-FFF2-40B4-BE49-F238E27FC236}">
                <a16:creationId xmlns:a16="http://schemas.microsoft.com/office/drawing/2014/main" id="{88B5C47B-B234-39DF-F964-B112CD4345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1594" y="357166"/>
            <a:ext cx="7929617" cy="10126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285592" y="1855961"/>
            <a:ext cx="9696261" cy="1938992"/>
          </a:xfrm>
          <a:prstGeom prst="rect">
            <a:avLst/>
          </a:prstGeom>
        </p:spPr>
        <p:txBody>
          <a:bodyPr wrap="square">
            <a:spAutoFit/>
          </a:bodyPr>
          <a:lstStyle/>
          <a:p>
            <a:pPr algn="ctr"/>
            <a:r>
              <a:rPr lang="en-US" sz="4000" b="1" dirty="0">
                <a:latin typeface="Times New Roman" pitchFamily="18" charset="0"/>
                <a:cs typeface="Times New Roman" pitchFamily="18" charset="0"/>
              </a:rPr>
              <a:t> </a:t>
            </a:r>
            <a:r>
              <a:rPr lang="en-US" sz="4000" b="1" u="sng" dirty="0">
                <a:latin typeface="Times New Roman" pitchFamily="18" charset="0"/>
                <a:cs typeface="Times New Roman" pitchFamily="18" charset="0"/>
              </a:rPr>
              <a:t>Heart Track AI</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Comprehensive Heart Disease Prediction and Monitoring</a:t>
            </a:r>
            <a:endParaRPr lang="en-US" sz="4000" dirty="0"/>
          </a:p>
        </p:txBody>
      </p:sp>
      <p:sp>
        <p:nvSpPr>
          <p:cNvPr id="6" name="Rectangle 5"/>
          <p:cNvSpPr/>
          <p:nvPr/>
        </p:nvSpPr>
        <p:spPr>
          <a:xfrm>
            <a:off x="525101" y="4426886"/>
            <a:ext cx="11380205" cy="1938992"/>
          </a:xfrm>
          <a:prstGeom prst="rect">
            <a:avLst/>
          </a:prstGeom>
        </p:spPr>
        <p:txBody>
          <a:bodyPr wrap="square">
            <a:spAutoFit/>
          </a:bodyPr>
          <a:lstStyle/>
          <a:p>
            <a:pPr>
              <a:spcBef>
                <a:spcPts val="600"/>
              </a:spcBef>
            </a:pPr>
            <a:r>
              <a:rPr lang="en-IN" sz="2000" b="1" dirty="0">
                <a:latin typeface="Times New Roman" pitchFamily="18" charset="0"/>
                <a:cs typeface="Times New Roman" pitchFamily="18" charset="0"/>
              </a:rPr>
              <a:t>Internal Guide:                                                                         </a:t>
            </a:r>
            <a:r>
              <a:rPr lang="en-IN" sz="2000" dirty="0">
                <a:latin typeface="Times New Roman" pitchFamily="18" charset="0"/>
                <a:cs typeface="Times New Roman" pitchFamily="18" charset="0"/>
              </a:rPr>
              <a:t>		</a:t>
            </a:r>
            <a:r>
              <a:rPr lang="en-IN" sz="2000" b="1" dirty="0">
                <a:latin typeface="Times New Roman" pitchFamily="18" charset="0"/>
                <a:cs typeface="Times New Roman" pitchFamily="18" charset="0"/>
              </a:rPr>
              <a:t>Batch no: 13</a:t>
            </a:r>
          </a:p>
          <a:p>
            <a:pPr>
              <a:spcBef>
                <a:spcPts val="600"/>
              </a:spcBef>
            </a:pPr>
            <a:r>
              <a:rPr lang="en-IN" sz="2000" dirty="0">
                <a:latin typeface="Times New Roman" pitchFamily="18" charset="0"/>
                <a:cs typeface="Times New Roman" pitchFamily="18" charset="0"/>
              </a:rPr>
              <a:t>Mr. Ch.Sathyanarayana                                                         	                </a:t>
            </a:r>
            <a:r>
              <a:rPr lang="en-IN" sz="2000" dirty="0" err="1">
                <a:latin typeface="Times New Roman" pitchFamily="18" charset="0"/>
                <a:cs typeface="Times New Roman" pitchFamily="18" charset="0"/>
              </a:rPr>
              <a:t>P.Prasad</a:t>
            </a:r>
            <a:r>
              <a:rPr lang="en-IN" sz="2000" dirty="0">
                <a:latin typeface="Times New Roman" pitchFamily="18" charset="0"/>
                <a:cs typeface="Times New Roman" pitchFamily="18" charset="0"/>
              </a:rPr>
              <a:t>(22P61A67E4)</a:t>
            </a:r>
          </a:p>
          <a:p>
            <a:pPr>
              <a:spcBef>
                <a:spcPts val="600"/>
              </a:spcBef>
            </a:pPr>
            <a:r>
              <a:rPr lang="en-IN" sz="2000" dirty="0">
                <a:latin typeface="Times New Roman" pitchFamily="18" charset="0"/>
                <a:cs typeface="Times New Roman" pitchFamily="18" charset="0"/>
              </a:rPr>
              <a:t>[Assistant Professor]                                                            	                </a:t>
            </a:r>
            <a:r>
              <a:rPr lang="en-IN" sz="2000" dirty="0" err="1">
                <a:latin typeface="Times New Roman" pitchFamily="18" charset="0"/>
                <a:cs typeface="Times New Roman" pitchFamily="18" charset="0"/>
              </a:rPr>
              <a:t>Sachin</a:t>
            </a:r>
            <a:r>
              <a:rPr lang="en-IN" sz="2000" dirty="0">
                <a:latin typeface="Times New Roman" pitchFamily="18" charset="0"/>
                <a:cs typeface="Times New Roman" pitchFamily="18" charset="0"/>
              </a:rPr>
              <a:t> Gupta(22P61A67F5)</a:t>
            </a:r>
          </a:p>
          <a:p>
            <a:pPr>
              <a:spcBef>
                <a:spcPts val="600"/>
              </a:spcBef>
            </a:pPr>
            <a:r>
              <a:rPr lang="en-IN" sz="2000" dirty="0">
                <a:latin typeface="Times New Roman" pitchFamily="18" charset="0"/>
                <a:cs typeface="Times New Roman" pitchFamily="18" charset="0"/>
              </a:rPr>
              <a:t>Mrs. </a:t>
            </a:r>
            <a:r>
              <a:rPr lang="en-IN" sz="2000" dirty="0" err="1">
                <a:latin typeface="Times New Roman" pitchFamily="18" charset="0"/>
                <a:cs typeface="Times New Roman" pitchFamily="18" charset="0"/>
              </a:rPr>
              <a:t>Sasikala</a:t>
            </a:r>
            <a:r>
              <a:rPr lang="en-IN" sz="2000" dirty="0">
                <a:latin typeface="Times New Roman" pitchFamily="18" charset="0"/>
                <a:cs typeface="Times New Roman" pitchFamily="18" charset="0"/>
              </a:rPr>
              <a:t>                                                                          		  S. Sri </a:t>
            </a:r>
            <a:r>
              <a:rPr lang="en-IN" sz="2000" dirty="0" err="1">
                <a:latin typeface="Times New Roman" pitchFamily="18" charset="0"/>
                <a:cs typeface="Times New Roman" pitchFamily="18" charset="0"/>
              </a:rPr>
              <a:t>Charan</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Teja</a:t>
            </a:r>
            <a:r>
              <a:rPr lang="en-IN" sz="2000" dirty="0">
                <a:latin typeface="Times New Roman" pitchFamily="18" charset="0"/>
                <a:cs typeface="Times New Roman" pitchFamily="18" charset="0"/>
              </a:rPr>
              <a:t>(22P61A67F8)</a:t>
            </a:r>
          </a:p>
          <a:p>
            <a:pPr>
              <a:spcBef>
                <a:spcPts val="600"/>
              </a:spcBef>
            </a:pPr>
            <a:r>
              <a:rPr lang="en-IN" sz="2000" dirty="0">
                <a:latin typeface="Times New Roman" pitchFamily="18" charset="0"/>
                <a:cs typeface="Times New Roman" pitchFamily="18" charset="0"/>
              </a:rPr>
              <a:t>[Assistant Professor]                                                   </a:t>
            </a:r>
          </a:p>
        </p:txBody>
      </p:sp>
    </p:spTree>
    <p:extLst>
      <p:ext uri="{BB962C8B-B14F-4D97-AF65-F5344CB8AC3E}">
        <p14:creationId xmlns:p14="http://schemas.microsoft.com/office/powerpoint/2010/main" val="1235152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13C5DB-AD52-BCC1-307B-E89A2F385280}"/>
              </a:ext>
            </a:extLst>
          </p:cNvPr>
          <p:cNvSpPr txBox="1"/>
          <p:nvPr/>
        </p:nvSpPr>
        <p:spPr>
          <a:xfrm>
            <a:off x="371819" y="830997"/>
            <a:ext cx="6097836" cy="5986254"/>
          </a:xfrm>
          <a:prstGeom prst="rect">
            <a:avLst/>
          </a:prstGeom>
          <a:noFill/>
        </p:spPr>
        <p:txBody>
          <a:bodyPr wrap="square">
            <a:spAutoFit/>
          </a:bodyPr>
          <a:lstStyle/>
          <a:p>
            <a:pPr marL="295910" marR="0" lvl="0" indent="-283210" algn="l" rtl="0">
              <a:lnSpc>
                <a:spcPct val="100000"/>
              </a:lnSpc>
              <a:spcBef>
                <a:spcPts val="0"/>
              </a:spcBef>
              <a:spcAft>
                <a:spcPts val="0"/>
              </a:spcAft>
              <a:buClr>
                <a:srgbClr val="000000"/>
              </a:buClr>
              <a:buSzPts val="1450"/>
              <a:buFont typeface="Times New Roman"/>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INTRODUCTION</a:t>
            </a:r>
            <a:endParaRPr lang="en-US"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95910" marR="0" lvl="0" indent="-191134" algn="l" rtl="0">
              <a:lnSpc>
                <a:spcPct val="100000"/>
              </a:lnSpc>
              <a:spcBef>
                <a:spcPts val="105"/>
              </a:spcBef>
              <a:spcAft>
                <a:spcPts val="0"/>
              </a:spcAft>
              <a:buClr>
                <a:srgbClr val="000000"/>
              </a:buClr>
              <a:buSzPts val="1450"/>
              <a:buFont typeface="Arial"/>
              <a:buNone/>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83210" algn="l" rtl="0">
              <a:lnSpc>
                <a:spcPct val="100000"/>
              </a:lnSpc>
              <a:spcBef>
                <a:spcPts val="105"/>
              </a:spcBef>
              <a:spcAft>
                <a:spcPts val="0"/>
              </a:spcAft>
              <a:buClr>
                <a:srgbClr val="000000"/>
              </a:buClr>
              <a:buSzPts val="1450"/>
              <a:buFont typeface="Times New Roman"/>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ABSTRACT</a:t>
            </a:r>
          </a:p>
          <a:p>
            <a:pPr marL="295910" marR="0" lvl="0" indent="-191134" algn="l" rtl="0">
              <a:lnSpc>
                <a:spcPct val="100000"/>
              </a:lnSpc>
              <a:spcBef>
                <a:spcPts val="105"/>
              </a:spcBef>
              <a:spcAft>
                <a:spcPts val="0"/>
              </a:spcAft>
              <a:buClr>
                <a:srgbClr val="000000"/>
              </a:buClr>
              <a:buSzPts val="1450"/>
              <a:buFont typeface="Arial"/>
              <a:buNone/>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83210" algn="l" rtl="0">
              <a:lnSpc>
                <a:spcPct val="100000"/>
              </a:lnSpc>
              <a:spcBef>
                <a:spcPts val="105"/>
              </a:spcBef>
              <a:spcAft>
                <a:spcPts val="0"/>
              </a:spcAft>
              <a:buClr>
                <a:srgbClr val="000000"/>
              </a:buClr>
              <a:buSzPts val="1450"/>
              <a:buFont typeface="Times New Roman"/>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LITERATURE SURVEY</a:t>
            </a:r>
            <a:endParaRPr lang="en-US"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165"/>
              </a:spcBef>
              <a:spcAft>
                <a:spcPts val="0"/>
              </a:spcAft>
              <a:buClr>
                <a:srgbClr val="000000"/>
              </a:buClr>
              <a:buSzPts val="1650"/>
              <a:buFont typeface="Times New Roman"/>
              <a:buNone/>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83210" algn="l" rtl="0">
              <a:lnSpc>
                <a:spcPct val="100000"/>
              </a:lnSpc>
              <a:spcBef>
                <a:spcPts val="0"/>
              </a:spcBef>
              <a:spcAft>
                <a:spcPts val="0"/>
              </a:spcAft>
              <a:buClr>
                <a:srgbClr val="000000"/>
              </a:buClr>
              <a:buSzPts val="1450"/>
              <a:buFont typeface="Times New Roman"/>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CHALLENGES IN EXISTING SYSTEM</a:t>
            </a:r>
            <a:endParaRPr lang="en-US"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95910" marR="0" lvl="0" indent="-191134" algn="l" rtl="0">
              <a:lnSpc>
                <a:spcPct val="100000"/>
              </a:lnSpc>
              <a:spcBef>
                <a:spcPts val="0"/>
              </a:spcBef>
              <a:spcAft>
                <a:spcPts val="0"/>
              </a:spcAft>
              <a:buClr>
                <a:srgbClr val="000000"/>
              </a:buClr>
              <a:buSzPts val="1450"/>
              <a:buFont typeface="Arial"/>
              <a:buNone/>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83210" algn="l" rtl="0">
              <a:lnSpc>
                <a:spcPct val="100000"/>
              </a:lnSpc>
              <a:spcBef>
                <a:spcPts val="0"/>
              </a:spcBef>
              <a:spcAft>
                <a:spcPts val="0"/>
              </a:spcAft>
              <a:buClr>
                <a:srgbClr val="000000"/>
              </a:buClr>
              <a:buSzPts val="1450"/>
              <a:buFont typeface="Times New Roman"/>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PROBLEM STATEMENT</a:t>
            </a:r>
            <a:endParaRPr lang="en-US"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p>
            <a:pPr marL="295910" marR="0" lvl="0" indent="-191134" algn="l" rtl="0">
              <a:lnSpc>
                <a:spcPct val="100000"/>
              </a:lnSpc>
              <a:spcBef>
                <a:spcPts val="0"/>
              </a:spcBef>
              <a:spcAft>
                <a:spcPts val="0"/>
              </a:spcAft>
              <a:buClr>
                <a:srgbClr val="000000"/>
              </a:buClr>
              <a:buSzPts val="1450"/>
              <a:buFont typeface="Arial"/>
              <a:buNone/>
            </a:pPr>
            <a:endPar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83210" algn="l" rtl="0">
              <a:lnSpc>
                <a:spcPct val="100000"/>
              </a:lnSpc>
              <a:spcBef>
                <a:spcPts val="5"/>
              </a:spcBef>
              <a:spcAft>
                <a:spcPts val="0"/>
              </a:spcAft>
              <a:buClr>
                <a:srgbClr val="000000"/>
              </a:buClr>
              <a:buSzPts val="1450"/>
              <a:buFont typeface="Times New Roman"/>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PROPOSED SYSTEM</a:t>
            </a:r>
          </a:p>
          <a:p>
            <a:pPr marL="457200" marR="0" lvl="0" indent="0" algn="l" rtl="0">
              <a:lnSpc>
                <a:spcPct val="100000"/>
              </a:lnSpc>
              <a:spcBef>
                <a:spcPts val="5"/>
              </a:spcBef>
              <a:spcAft>
                <a:spcPts val="0"/>
              </a:spcAft>
              <a:buNone/>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95910" algn="l" rtl="0">
              <a:lnSpc>
                <a:spcPct val="100000"/>
              </a:lnSpc>
              <a:spcBef>
                <a:spcPts val="5"/>
              </a:spcBef>
              <a:spcAft>
                <a:spcPts val="0"/>
              </a:spcAft>
              <a:buClr>
                <a:schemeClr val="dk1"/>
              </a:buClr>
              <a:buSzPts val="1650"/>
              <a:buFont typeface="Times New Roman"/>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REQUIREMENT ANALYSIS</a:t>
            </a:r>
          </a:p>
          <a:p>
            <a:pPr marL="457200" marR="0" lvl="0" indent="0" algn="l" rtl="0">
              <a:lnSpc>
                <a:spcPct val="100000"/>
              </a:lnSpc>
              <a:spcBef>
                <a:spcPts val="5"/>
              </a:spcBef>
              <a:spcAft>
                <a:spcPts val="0"/>
              </a:spcAft>
              <a:buNone/>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95910" algn="l" rtl="0">
              <a:lnSpc>
                <a:spcPct val="100000"/>
              </a:lnSpc>
              <a:spcBef>
                <a:spcPts val="5"/>
              </a:spcBef>
              <a:spcAft>
                <a:spcPts val="0"/>
              </a:spcAft>
              <a:buClr>
                <a:schemeClr val="dk1"/>
              </a:buClr>
              <a:buSzPts val="1650"/>
              <a:buFont typeface="Times New Roman"/>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ARCHITECTURE</a:t>
            </a:r>
          </a:p>
          <a:p>
            <a:pPr marL="457200" marR="0" lvl="0" indent="0" algn="l" rtl="0">
              <a:lnSpc>
                <a:spcPct val="100000"/>
              </a:lnSpc>
              <a:spcBef>
                <a:spcPts val="5"/>
              </a:spcBef>
              <a:spcAft>
                <a:spcPts val="0"/>
              </a:spcAft>
              <a:buNone/>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95910" algn="l" rtl="0">
              <a:lnSpc>
                <a:spcPct val="100000"/>
              </a:lnSpc>
              <a:spcBef>
                <a:spcPts val="5"/>
              </a:spcBef>
              <a:spcAft>
                <a:spcPts val="0"/>
              </a:spcAft>
              <a:buClr>
                <a:schemeClr val="dk1"/>
              </a:buClr>
              <a:buSzPts val="1650"/>
              <a:buFont typeface="Times New Roman"/>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ALGORITHMS</a:t>
            </a:r>
          </a:p>
          <a:p>
            <a:pPr marL="457200" marR="0" lvl="0" indent="0" algn="l" rtl="0">
              <a:lnSpc>
                <a:spcPct val="100000"/>
              </a:lnSpc>
              <a:spcBef>
                <a:spcPts val="5"/>
              </a:spcBef>
              <a:spcAft>
                <a:spcPts val="0"/>
              </a:spcAft>
              <a:buNone/>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95910" algn="l" rtl="0">
              <a:lnSpc>
                <a:spcPct val="100000"/>
              </a:lnSpc>
              <a:spcBef>
                <a:spcPts val="5"/>
              </a:spcBef>
              <a:spcAft>
                <a:spcPts val="0"/>
              </a:spcAft>
              <a:buClr>
                <a:schemeClr val="dk1"/>
              </a:buClr>
              <a:buSzPts val="1650"/>
              <a:buFont typeface="Times New Roman"/>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DATA SETS</a:t>
            </a:r>
          </a:p>
          <a:p>
            <a:pPr marL="457200" marR="0" lvl="0" indent="0" algn="l" rtl="0">
              <a:lnSpc>
                <a:spcPct val="100000"/>
              </a:lnSpc>
              <a:spcBef>
                <a:spcPts val="5"/>
              </a:spcBef>
              <a:spcAft>
                <a:spcPts val="0"/>
              </a:spcAft>
              <a:buNone/>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95910" marR="0" lvl="0" indent="-283210" algn="l" rtl="0">
              <a:lnSpc>
                <a:spcPct val="100000"/>
              </a:lnSpc>
              <a:spcBef>
                <a:spcPts val="0"/>
              </a:spcBef>
              <a:spcAft>
                <a:spcPts val="0"/>
              </a:spcAft>
              <a:buClr>
                <a:srgbClr val="000000"/>
              </a:buClr>
              <a:buSzPts val="1450"/>
              <a:buFont typeface="Times New Roman"/>
              <a:buChar char="●"/>
            </a:pPr>
            <a:r>
              <a:rPr lang="en-US"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REFERENCES</a:t>
            </a:r>
            <a:endParaRPr lang="en-US"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7" name="TextBox 6">
            <a:extLst>
              <a:ext uri="{FF2B5EF4-FFF2-40B4-BE49-F238E27FC236}">
                <a16:creationId xmlns:a16="http://schemas.microsoft.com/office/drawing/2014/main" id="{F3696171-3CBF-F31E-44CE-D8078D2B72E9}"/>
              </a:ext>
            </a:extLst>
          </p:cNvPr>
          <p:cNvSpPr txBox="1"/>
          <p:nvPr/>
        </p:nvSpPr>
        <p:spPr>
          <a:xfrm>
            <a:off x="3420737" y="40749"/>
            <a:ext cx="6097836" cy="646331"/>
          </a:xfrm>
          <a:prstGeom prst="rect">
            <a:avLst/>
          </a:prstGeom>
          <a:noFill/>
        </p:spPr>
        <p:txBody>
          <a:bodyPr wrap="square">
            <a:spAutoFit/>
          </a:bodyPr>
          <a:lstStyle/>
          <a:p>
            <a:pPr algn="ctr"/>
            <a:r>
              <a:rPr lang="en-US" sz="3600" b="1" cap="none" spc="0" dirty="0">
                <a:ln/>
                <a:effectLst/>
                <a:latin typeface="Times New Roman" panose="02020603050405020304" pitchFamily="18" charset="0"/>
                <a:cs typeface="Times New Roman" panose="02020603050405020304" pitchFamily="18" charset="0"/>
              </a:rPr>
              <a:t>CONTENTS</a:t>
            </a:r>
            <a:endParaRPr lang="en-IN" sz="3600" dirty="0"/>
          </a:p>
        </p:txBody>
      </p:sp>
    </p:spTree>
    <p:extLst>
      <p:ext uri="{BB962C8B-B14F-4D97-AF65-F5344CB8AC3E}">
        <p14:creationId xmlns:p14="http://schemas.microsoft.com/office/powerpoint/2010/main" val="1012454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F7A1-ED78-043B-CFAA-72C3734B0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95BE1-DFBA-950D-D442-84052B0D672D}"/>
              </a:ext>
            </a:extLst>
          </p:cNvPr>
          <p:cNvSpPr>
            <a:spLocks noGrp="1"/>
          </p:cNvSpPr>
          <p:nvPr>
            <p:ph type="title"/>
          </p:nvPr>
        </p:nvSpPr>
        <p:spPr>
          <a:xfrm>
            <a:off x="838200" y="138983"/>
            <a:ext cx="10515600" cy="1325563"/>
          </a:xfrm>
        </p:spPr>
        <p:txBody>
          <a:bodyPr>
            <a:normAutofit/>
          </a:bodyPr>
          <a:lstStyle/>
          <a:p>
            <a:pPr algn="ctr"/>
            <a:r>
              <a:rPr lang="en-US" sz="3600" b="1">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280BD3-B04E-691C-4D22-41974CBC001C}"/>
              </a:ext>
            </a:extLst>
          </p:cNvPr>
          <p:cNvSpPr>
            <a:spLocks noGrp="1"/>
          </p:cNvSpPr>
          <p:nvPr>
            <p:ph idx="1"/>
          </p:nvPr>
        </p:nvSpPr>
        <p:spPr>
          <a:xfrm>
            <a:off x="516048" y="1238403"/>
            <a:ext cx="11371152" cy="5261985"/>
          </a:xfrm>
        </p:spPr>
        <p:txBody>
          <a:bodyPr>
            <a:noAutofit/>
          </a:bodyPr>
          <a:lstStyle/>
          <a:p>
            <a:pPr>
              <a:lnSpc>
                <a:spcPct val="150000"/>
              </a:lnSpc>
            </a:pPr>
            <a:r>
              <a:rPr lang="en-US" sz="1800" dirty="0">
                <a:latin typeface="Times New Roman" pitchFamily="18" charset="0"/>
                <a:cs typeface="Times New Roman" pitchFamily="18" charset="0"/>
              </a:rPr>
              <a:t>This comprehensive web application combines advanced machine learning with an intuitive user interface to assess heart disease risk. The system utilizes an ensemble of predictive models including Random Forest, Neural Network, Logistic Regression, and Support Vector Machine algorithms to achieve high accuracy (90%) in risk assessment.</a:t>
            </a:r>
          </a:p>
          <a:p>
            <a:pPr>
              <a:lnSpc>
                <a:spcPct val="150000"/>
              </a:lnSpc>
            </a:pPr>
            <a:r>
              <a:rPr lang="en-US" sz="1800" dirty="0">
                <a:latin typeface="Times New Roman" pitchFamily="18" charset="0"/>
                <a:cs typeface="Times New Roman" pitchFamily="18" charset="0"/>
              </a:rPr>
              <a:t>Users can input their health metrics such as age, cholesterol levels, blood pressure, and other clinical parameters to receive personalized risk evaluations, along with explainable AI visualizations that highlight which factors most influence their results. The application offers detailed recommendations, risk trajectory projections, and a health action plan tailored to each user's profile.</a:t>
            </a:r>
          </a:p>
          <a:p>
            <a:pPr>
              <a:lnSpc>
                <a:spcPct val="150000"/>
              </a:lnSpc>
            </a:pPr>
            <a:r>
              <a:rPr lang="en-US" sz="1800" dirty="0">
                <a:latin typeface="Times New Roman" pitchFamily="18" charset="0"/>
                <a:cs typeface="Times New Roman" pitchFamily="18" charset="0"/>
              </a:rPr>
              <a:t>Beyond predictions, the platform includes features for tracking risk history over time, comparing different prediction models, and accessing an AI-powered health assistant for personalized guidance. All sensitive health data is securely stored, making this a complete solution for heart disease risk management and prevention.</a:t>
            </a:r>
          </a:p>
        </p:txBody>
      </p:sp>
    </p:spTree>
    <p:extLst>
      <p:ext uri="{BB962C8B-B14F-4D97-AF65-F5344CB8AC3E}">
        <p14:creationId xmlns:p14="http://schemas.microsoft.com/office/powerpoint/2010/main" val="261740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04C45-DB3B-D0D5-5AE7-C97FBA8D4415}"/>
              </a:ext>
            </a:extLst>
          </p:cNvPr>
          <p:cNvSpPr>
            <a:spLocks noGrp="1"/>
          </p:cNvSpPr>
          <p:nvPr>
            <p:ph type="title"/>
          </p:nvPr>
        </p:nvSpPr>
        <p:spPr>
          <a:xfrm>
            <a:off x="838201" y="365126"/>
            <a:ext cx="9437482" cy="594541"/>
          </a:xfrm>
        </p:spPr>
        <p:txBody>
          <a:bodyPr>
            <a:normAutofit/>
          </a:bodyPr>
          <a:lstStyle/>
          <a:p>
            <a:pPr algn="ctr"/>
            <a:r>
              <a:rPr lang="en-US" sz="3600" b="1" dirty="0">
                <a:latin typeface="Times New Roman" panose="02020603050405020304" pitchFamily="18" charset="0"/>
                <a:cs typeface="Times New Roman" panose="02020603050405020304" pitchFamily="18" charset="0"/>
              </a:rPr>
              <a:t>ABSTRACT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850050-18EA-96C8-A86F-FEF7433BAB77}"/>
              </a:ext>
            </a:extLst>
          </p:cNvPr>
          <p:cNvSpPr>
            <a:spLocks noGrp="1"/>
          </p:cNvSpPr>
          <p:nvPr>
            <p:ph idx="1"/>
          </p:nvPr>
        </p:nvSpPr>
        <p:spPr>
          <a:xfrm>
            <a:off x="764702" y="1382870"/>
            <a:ext cx="10515600" cy="4351338"/>
          </a:xfrm>
        </p:spPr>
        <p:txBody>
          <a:bodyPr>
            <a:normAutofit fontScale="92500" lnSpcReduction="10000"/>
          </a:bodyPr>
          <a:lstStyle/>
          <a:p>
            <a:pPr marL="0" indent="0" algn="just">
              <a:lnSpc>
                <a:spcPct val="150000"/>
              </a:lnSpc>
              <a:buNone/>
            </a:pPr>
            <a:r>
              <a:rPr lang="en-US" sz="2000" dirty="0">
                <a:latin typeface="Times New Roman" pitchFamily="18" charset="0"/>
                <a:cs typeface="Times New Roman" pitchFamily="18" charset="0"/>
              </a:rPr>
              <a:t>This project implements a comprehensive heart disease prediction system that leverages multiple machine learning models to provide accurate risk assessments. The backend, developed in Flask, integrates an ensemble of algorithms including Random Forest, Neural Network, Logistic Regression, and Support Vector Machine to achieve 90% prediction accuracy. The frontend, built with React and Chakra UI, offers an intuitive interface for users to input health metrics and receive personalized risk evaluations with explainable AI visualizations. The system provides tailored health recommendations, risk trajectory projections, and historical tracking of assessments. A standout feature is the explainable AI component using SHAP values to help users understand which factors most significantly influence their risk profile. The application ensures data security through Firebase authentication while maintaining accessibility for both patients and healthcare providers.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43620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CCB40-EEEC-0409-B53C-8CB7A0087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413E8-537E-C1CF-1AFC-0FED4D7B7A0B}"/>
              </a:ext>
            </a:extLst>
          </p:cNvPr>
          <p:cNvSpPr>
            <a:spLocks noGrp="1"/>
          </p:cNvSpPr>
          <p:nvPr>
            <p:ph type="title"/>
          </p:nvPr>
        </p:nvSpPr>
        <p:spPr>
          <a:xfrm>
            <a:off x="435079" y="-111870"/>
            <a:ext cx="10515600" cy="918115"/>
          </a:xfrm>
        </p:spPr>
        <p:txBody>
          <a:bodyPr>
            <a:normAutofit/>
          </a:bodyPr>
          <a:lstStyle/>
          <a:p>
            <a:pPr algn="ctr"/>
            <a:r>
              <a:rPr lang="en-US" sz="3600" b="1"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AD62EEB-BB3A-D941-515A-102426092590}"/>
              </a:ext>
            </a:extLst>
          </p:cNvPr>
          <p:cNvGraphicFramePr>
            <a:graphicFrameLocks noGrp="1"/>
          </p:cNvGraphicFramePr>
          <p:nvPr>
            <p:extLst>
              <p:ext uri="{D42A27DB-BD31-4B8C-83A1-F6EECF244321}">
                <p14:modId xmlns:p14="http://schemas.microsoft.com/office/powerpoint/2010/main" val="187356823"/>
              </p:ext>
            </p:extLst>
          </p:nvPr>
        </p:nvGraphicFramePr>
        <p:xfrm>
          <a:off x="398864" y="807510"/>
          <a:ext cx="11624137" cy="5692878"/>
        </p:xfrm>
        <a:graphic>
          <a:graphicData uri="http://schemas.openxmlformats.org/drawingml/2006/table">
            <a:tbl>
              <a:tblPr firstRow="1" bandRow="1">
                <a:tableStyleId>{5C22544A-7EE6-4342-B048-85BDC9FD1C3A}</a:tableStyleId>
              </a:tblPr>
              <a:tblGrid>
                <a:gridCol w="2318357">
                  <a:extLst>
                    <a:ext uri="{9D8B030D-6E8A-4147-A177-3AD203B41FA5}">
                      <a16:colId xmlns:a16="http://schemas.microsoft.com/office/drawing/2014/main" val="2235793281"/>
                    </a:ext>
                  </a:extLst>
                </a:gridCol>
                <a:gridCol w="3071021">
                  <a:extLst>
                    <a:ext uri="{9D8B030D-6E8A-4147-A177-3AD203B41FA5}">
                      <a16:colId xmlns:a16="http://schemas.microsoft.com/office/drawing/2014/main" val="3072633066"/>
                    </a:ext>
                  </a:extLst>
                </a:gridCol>
                <a:gridCol w="2966232">
                  <a:extLst>
                    <a:ext uri="{9D8B030D-6E8A-4147-A177-3AD203B41FA5}">
                      <a16:colId xmlns:a16="http://schemas.microsoft.com/office/drawing/2014/main" val="3410193233"/>
                    </a:ext>
                  </a:extLst>
                </a:gridCol>
                <a:gridCol w="3268527">
                  <a:extLst>
                    <a:ext uri="{9D8B030D-6E8A-4147-A177-3AD203B41FA5}">
                      <a16:colId xmlns:a16="http://schemas.microsoft.com/office/drawing/2014/main" val="3927479464"/>
                    </a:ext>
                  </a:extLst>
                </a:gridCol>
              </a:tblGrid>
              <a:tr h="365760">
                <a:tc>
                  <a:txBody>
                    <a:bodyPr/>
                    <a:lstStyle/>
                    <a:p>
                      <a:pPr algn="just"/>
                      <a:r>
                        <a:rPr lang="en-IN" sz="1800" b="1" dirty="0">
                          <a:solidFill>
                            <a:srgbClr val="FFFFFF"/>
                          </a:solidFill>
                          <a:latin typeface="Times New Roman" pitchFamily="18" charset="0"/>
                          <a:cs typeface="Times New Roman" pitchFamily="18" charset="0"/>
                        </a:rPr>
                        <a:t>Author Name</a:t>
                      </a:r>
                    </a:p>
                  </a:txBody>
                  <a:tcPr>
                    <a:solidFill>
                      <a:srgbClr val="4F81BD"/>
                    </a:solidFill>
                  </a:tcPr>
                </a:tc>
                <a:tc>
                  <a:txBody>
                    <a:bodyPr/>
                    <a:lstStyle/>
                    <a:p>
                      <a:pPr algn="just"/>
                      <a:r>
                        <a:rPr lang="en-IN" sz="1800" b="1" dirty="0">
                          <a:solidFill>
                            <a:srgbClr val="FFFFFF"/>
                          </a:solidFill>
                          <a:latin typeface="Times New Roman" pitchFamily="18" charset="0"/>
                          <a:cs typeface="Times New Roman" pitchFamily="18" charset="0"/>
                        </a:rPr>
                        <a:t>Title</a:t>
                      </a:r>
                    </a:p>
                  </a:txBody>
                  <a:tcPr>
                    <a:solidFill>
                      <a:srgbClr val="4F81BD"/>
                    </a:solidFill>
                  </a:tcPr>
                </a:tc>
                <a:tc>
                  <a:txBody>
                    <a:bodyPr/>
                    <a:lstStyle/>
                    <a:p>
                      <a:pPr algn="just"/>
                      <a:r>
                        <a:rPr lang="en-IN" sz="1800" b="1" dirty="0">
                          <a:solidFill>
                            <a:srgbClr val="FFFFFF"/>
                          </a:solidFill>
                          <a:latin typeface="Times New Roman" pitchFamily="18" charset="0"/>
                          <a:cs typeface="Times New Roman" pitchFamily="18" charset="0"/>
                        </a:rPr>
                        <a:t>Techniques</a:t>
                      </a:r>
                    </a:p>
                  </a:txBody>
                  <a:tcPr>
                    <a:solidFill>
                      <a:srgbClr val="4F81BD"/>
                    </a:solidFill>
                  </a:tcPr>
                </a:tc>
                <a:tc>
                  <a:txBody>
                    <a:bodyPr/>
                    <a:lstStyle/>
                    <a:p>
                      <a:pPr algn="just"/>
                      <a:r>
                        <a:rPr lang="en-IN" sz="1800" b="1" dirty="0">
                          <a:solidFill>
                            <a:srgbClr val="FFFFFF"/>
                          </a:solidFill>
                          <a:latin typeface="Times New Roman" pitchFamily="18" charset="0"/>
                          <a:cs typeface="Times New Roman" pitchFamily="18" charset="0"/>
                        </a:rPr>
                        <a:t>Challenges</a:t>
                      </a:r>
                    </a:p>
                  </a:txBody>
                  <a:tcPr>
                    <a:solidFill>
                      <a:srgbClr val="4F81BD"/>
                    </a:solidFill>
                  </a:tcPr>
                </a:tc>
                <a:extLst>
                  <a:ext uri="{0D108BD9-81ED-4DB2-BD59-A6C34878D82A}">
                    <a16:rowId xmlns:a16="http://schemas.microsoft.com/office/drawing/2014/main" val="2677386549"/>
                  </a:ext>
                </a:extLst>
              </a:tr>
              <a:tr h="914399">
                <a:tc>
                  <a:txBody>
                    <a:bodyPr/>
                    <a:lstStyle/>
                    <a:p>
                      <a:pPr algn="just"/>
                      <a:r>
                        <a:rPr lang="en-US" sz="1800" b="0" i="0" kern="1200" dirty="0" err="1">
                          <a:solidFill>
                            <a:schemeClr val="dk1"/>
                          </a:solidFill>
                          <a:latin typeface="Times New Roman" pitchFamily="18" charset="0"/>
                          <a:ea typeface="+mn-ea"/>
                          <a:cs typeface="Times New Roman" pitchFamily="18" charset="0"/>
                        </a:rPr>
                        <a:t>Detrano</a:t>
                      </a:r>
                      <a:r>
                        <a:rPr lang="en-US" sz="1800" b="0" i="0" kern="1200" dirty="0">
                          <a:solidFill>
                            <a:schemeClr val="dk1"/>
                          </a:solidFill>
                          <a:latin typeface="Times New Roman" pitchFamily="18" charset="0"/>
                          <a:ea typeface="+mn-ea"/>
                          <a:cs typeface="Times New Roman" pitchFamily="18" charset="0"/>
                        </a:rPr>
                        <a:t>, R., et al. (1989)</a:t>
                      </a:r>
                      <a:endParaRPr lang="en-IN" sz="1800" dirty="0">
                        <a:latin typeface="Times New Roman" pitchFamily="18" charset="0"/>
                        <a:cs typeface="Times New Roman" pitchFamily="18" charset="0"/>
                      </a:endParaRPr>
                    </a:p>
                  </a:txBody>
                  <a:tcPr/>
                </a:tc>
                <a:tc>
                  <a:txBody>
                    <a:bodyPr/>
                    <a:lstStyle/>
                    <a:p>
                      <a:pPr algn="just"/>
                      <a:r>
                        <a:rPr lang="en-US" sz="1800" b="0" i="0" kern="1200" dirty="0">
                          <a:solidFill>
                            <a:schemeClr val="dk1"/>
                          </a:solidFill>
                          <a:latin typeface="Times New Roman" pitchFamily="18" charset="0"/>
                          <a:ea typeface="+mn-ea"/>
                          <a:cs typeface="Times New Roman" pitchFamily="18" charset="0"/>
                        </a:rPr>
                        <a:t>International application of a new probability algorithm for the diagnosis of coronary artery disease</a:t>
                      </a:r>
                      <a:endParaRPr lang="en-US" sz="1800" dirty="0">
                        <a:latin typeface="Times New Roman" pitchFamily="18" charset="0"/>
                        <a:cs typeface="Times New Roman" pitchFamily="18" charset="0"/>
                      </a:endParaRPr>
                    </a:p>
                  </a:txBody>
                  <a:tcPr/>
                </a:tc>
                <a:tc>
                  <a:txBody>
                    <a:bodyPr/>
                    <a:lstStyle/>
                    <a:p>
                      <a:pPr algn="just"/>
                      <a:r>
                        <a:rPr lang="en-US" sz="1800" dirty="0">
                          <a:latin typeface="Times New Roman" pitchFamily="18" charset="0"/>
                          <a:cs typeface="Times New Roman" pitchFamily="18" charset="0"/>
                        </a:rPr>
                        <a:t>Clinical algorithms for probability estimation based on patient data</a:t>
                      </a:r>
                      <a:endParaRPr lang="en-IN" sz="1800" dirty="0">
                        <a:latin typeface="Times New Roman" pitchFamily="18" charset="0"/>
                        <a:cs typeface="Times New Roman" pitchFamily="18" charset="0"/>
                      </a:endParaRPr>
                    </a:p>
                  </a:txBody>
                  <a:tcPr/>
                </a:tc>
                <a:tc>
                  <a:txBody>
                    <a:bodyPr/>
                    <a:lstStyle/>
                    <a:p>
                      <a:pPr algn="just"/>
                      <a:r>
                        <a:rPr lang="en-US" sz="1800" dirty="0">
                          <a:latin typeface="Times New Roman" pitchFamily="18" charset="0"/>
                          <a:cs typeface="Times New Roman" pitchFamily="18" charset="0"/>
                        </a:rPr>
                        <a:t>Limited computational resources and statistical approaches compared to modern methods; difficulty in validating across diverse international populations</a:t>
                      </a:r>
                      <a:endParaRPr lang="en-IN" sz="1800" dirty="0">
                        <a:latin typeface="Times New Roman" pitchFamily="18" charset="0"/>
                        <a:cs typeface="Times New Roman" pitchFamily="18" charset="0"/>
                      </a:endParaRPr>
                    </a:p>
                  </a:txBody>
                  <a:tcPr/>
                </a:tc>
                <a:extLst>
                  <a:ext uri="{0D108BD9-81ED-4DB2-BD59-A6C34878D82A}">
                    <a16:rowId xmlns:a16="http://schemas.microsoft.com/office/drawing/2014/main" val="3910566578"/>
                  </a:ext>
                </a:extLst>
              </a:tr>
              <a:tr h="640080">
                <a:tc>
                  <a:txBody>
                    <a:bodyPr/>
                    <a:lstStyle/>
                    <a:p>
                      <a:pPr algn="just"/>
                      <a:r>
                        <a:rPr lang="en-US" sz="1800" dirty="0">
                          <a:latin typeface="Times New Roman" pitchFamily="18" charset="0"/>
                          <a:cs typeface="Times New Roman" pitchFamily="18" charset="0"/>
                        </a:rPr>
                        <a:t> Lundberg, S.M., &amp; Lee, S.I. (2017)</a:t>
                      </a:r>
                      <a:endParaRPr lang="en-IN" sz="1800" dirty="0">
                        <a:latin typeface="Times New Roman" pitchFamily="18" charset="0"/>
                        <a:cs typeface="Times New Roman" pitchFamily="18" charset="0"/>
                      </a:endParaRPr>
                    </a:p>
                  </a:txBody>
                  <a:tcPr/>
                </a:tc>
                <a:tc>
                  <a:txBody>
                    <a:bodyPr/>
                    <a:lstStyle/>
                    <a:p>
                      <a:pPr algn="just"/>
                      <a:r>
                        <a:rPr lang="en-US" sz="1800" dirty="0">
                          <a:latin typeface="Times New Roman" pitchFamily="18" charset="0"/>
                          <a:cs typeface="Times New Roman" pitchFamily="18" charset="0"/>
                        </a:rPr>
                        <a:t>A unified approach to interpreting model predictions</a:t>
                      </a:r>
                      <a:endParaRPr lang="en-IN" sz="1800" dirty="0">
                        <a:latin typeface="Times New Roman" pitchFamily="18" charset="0"/>
                        <a:cs typeface="Times New Roman" pitchFamily="18" charset="0"/>
                      </a:endParaRPr>
                    </a:p>
                  </a:txBody>
                  <a:tcPr/>
                </a:tc>
                <a:tc>
                  <a:txBody>
                    <a:bodyPr/>
                    <a:lstStyle/>
                    <a:p>
                      <a:pPr algn="just"/>
                      <a:r>
                        <a:rPr lang="en-US" sz="1800" dirty="0">
                          <a:latin typeface="Times New Roman" pitchFamily="18" charset="0"/>
                          <a:cs typeface="Times New Roman" pitchFamily="18" charset="0"/>
                        </a:rPr>
                        <a:t>SHAP (</a:t>
                      </a:r>
                      <a:r>
                        <a:rPr lang="en-US" sz="1800" dirty="0" err="1">
                          <a:latin typeface="Times New Roman" pitchFamily="18" charset="0"/>
                          <a:cs typeface="Times New Roman" pitchFamily="18" charset="0"/>
                        </a:rPr>
                        <a:t>SHapley</a:t>
                      </a:r>
                      <a:r>
                        <a:rPr lang="en-US" sz="1800" dirty="0">
                          <a:latin typeface="Times New Roman" pitchFamily="18" charset="0"/>
                          <a:cs typeface="Times New Roman" pitchFamily="18" charset="0"/>
                        </a:rPr>
                        <a:t> Additive </a:t>
                      </a:r>
                      <a:r>
                        <a:rPr lang="en-US" sz="1800" dirty="0" err="1">
                          <a:latin typeface="Times New Roman" pitchFamily="18" charset="0"/>
                          <a:cs typeface="Times New Roman" pitchFamily="18" charset="0"/>
                        </a:rPr>
                        <a:t>exPlanations</a:t>
                      </a:r>
                      <a:r>
                        <a:rPr lang="en-US" sz="1800" dirty="0">
                          <a:latin typeface="Times New Roman" pitchFamily="18" charset="0"/>
                          <a:cs typeface="Times New Roman" pitchFamily="18" charset="0"/>
                        </a:rPr>
                        <a:t>) method for model interpretability</a:t>
                      </a:r>
                    </a:p>
                  </a:txBody>
                  <a:tcPr/>
                </a:tc>
                <a:tc>
                  <a:txBody>
                    <a:bodyPr/>
                    <a:lstStyle/>
                    <a:p>
                      <a:pPr algn="just"/>
                      <a:r>
                        <a:rPr lang="en-US" sz="1800" dirty="0">
                          <a:latin typeface="Times New Roman" pitchFamily="18" charset="0"/>
                          <a:cs typeface="Times New Roman" pitchFamily="18" charset="0"/>
                        </a:rPr>
                        <a:t>Balancing model complexity with interpretability; computational intensity when calculating SHAP values for complex models</a:t>
                      </a:r>
                    </a:p>
                  </a:txBody>
                  <a:tcPr/>
                </a:tc>
                <a:extLst>
                  <a:ext uri="{0D108BD9-81ED-4DB2-BD59-A6C34878D82A}">
                    <a16:rowId xmlns:a16="http://schemas.microsoft.com/office/drawing/2014/main" val="526773517"/>
                  </a:ext>
                </a:extLst>
              </a:tr>
              <a:tr h="1212318">
                <a:tc>
                  <a:txBody>
                    <a:bodyPr/>
                    <a:lstStyle/>
                    <a:p>
                      <a:pPr algn="just"/>
                      <a:r>
                        <a:rPr lang="en-US" sz="1800" dirty="0" err="1">
                          <a:latin typeface="Times New Roman" pitchFamily="18" charset="0"/>
                          <a:cs typeface="Times New Roman" pitchFamily="18" charset="0"/>
                        </a:rPr>
                        <a:t>Palaniappan</a:t>
                      </a:r>
                      <a:r>
                        <a:rPr lang="en-US" sz="1800" dirty="0">
                          <a:latin typeface="Times New Roman" pitchFamily="18" charset="0"/>
                          <a:cs typeface="Times New Roman" pitchFamily="18" charset="0"/>
                        </a:rPr>
                        <a:t>, S., &amp; </a:t>
                      </a:r>
                      <a:r>
                        <a:rPr lang="en-US" sz="1800" dirty="0" err="1">
                          <a:latin typeface="Times New Roman" pitchFamily="18" charset="0"/>
                          <a:cs typeface="Times New Roman" pitchFamily="18" charset="0"/>
                        </a:rPr>
                        <a:t>Awang</a:t>
                      </a:r>
                      <a:r>
                        <a:rPr lang="en-US" sz="1800" dirty="0">
                          <a:latin typeface="Times New Roman" pitchFamily="18" charset="0"/>
                          <a:cs typeface="Times New Roman" pitchFamily="18" charset="0"/>
                        </a:rPr>
                        <a:t>, R. (2008)</a:t>
                      </a:r>
                    </a:p>
                  </a:txBody>
                  <a:tcPr/>
                </a:tc>
                <a:tc>
                  <a:txBody>
                    <a:bodyPr/>
                    <a:lstStyle/>
                    <a:p>
                      <a:pPr algn="just"/>
                      <a:r>
                        <a:rPr lang="en-US" sz="1800" dirty="0">
                          <a:latin typeface="Times New Roman" pitchFamily="18" charset="0"/>
                          <a:cs typeface="Times New Roman" pitchFamily="18" charset="0"/>
                        </a:rPr>
                        <a:t>Intelligent heart disease prediction system using data mining techniques</a:t>
                      </a:r>
                    </a:p>
                  </a:txBody>
                  <a:tcPr/>
                </a:tc>
                <a:tc>
                  <a:txBody>
                    <a:bodyPr/>
                    <a:lstStyle/>
                    <a:p>
                      <a:pPr algn="just"/>
                      <a:r>
                        <a:rPr lang="en-US" sz="1800" dirty="0">
                          <a:latin typeface="Times New Roman" pitchFamily="18" charset="0"/>
                          <a:cs typeface="Times New Roman" pitchFamily="18" charset="0"/>
                        </a:rPr>
                        <a:t> Comparative analysis of Naive </a:t>
                      </a:r>
                      <a:r>
                        <a:rPr lang="en-US" sz="1800" dirty="0" err="1">
                          <a:latin typeface="Times New Roman" pitchFamily="18" charset="0"/>
                          <a:cs typeface="Times New Roman" pitchFamily="18" charset="0"/>
                        </a:rPr>
                        <a:t>Bayes</a:t>
                      </a:r>
                      <a:r>
                        <a:rPr lang="en-US" sz="1800" dirty="0">
                          <a:latin typeface="Times New Roman" pitchFamily="18" charset="0"/>
                          <a:cs typeface="Times New Roman" pitchFamily="18" charset="0"/>
                        </a:rPr>
                        <a:t>, Neural Network, and Decision Tree algorithms</a:t>
                      </a:r>
                    </a:p>
                  </a:txBody>
                  <a:tcPr/>
                </a:tc>
                <a:tc>
                  <a:txBody>
                    <a:bodyPr/>
                    <a:lstStyle/>
                    <a:p>
                      <a:pPr algn="just"/>
                      <a:r>
                        <a:rPr lang="en-US" sz="1800" dirty="0">
                          <a:latin typeface="Times New Roman" pitchFamily="18" charset="0"/>
                          <a:cs typeface="Times New Roman" pitchFamily="18" charset="0"/>
                        </a:rPr>
                        <a:t> Feature selection from high-dimensional medical data; handling imbalanced datasets</a:t>
                      </a:r>
                    </a:p>
                  </a:txBody>
                  <a:tcPr/>
                </a:tc>
                <a:extLst>
                  <a:ext uri="{0D108BD9-81ED-4DB2-BD59-A6C34878D82A}">
                    <a16:rowId xmlns:a16="http://schemas.microsoft.com/office/drawing/2014/main" val="1829401831"/>
                  </a:ext>
                </a:extLst>
              </a:tr>
              <a:tr h="914399">
                <a:tc>
                  <a:txBody>
                    <a:bodyPr/>
                    <a:lstStyle/>
                    <a:p>
                      <a:pPr algn="just"/>
                      <a:r>
                        <a:rPr lang="en-US" sz="1800" dirty="0">
                          <a:latin typeface="Times New Roman" pitchFamily="18" charset="0"/>
                          <a:cs typeface="Times New Roman" pitchFamily="18" charset="0"/>
                        </a:rPr>
                        <a:t> Mohan, S., </a:t>
                      </a:r>
                      <a:r>
                        <a:rPr lang="en-US" sz="1800" dirty="0" err="1">
                          <a:latin typeface="Times New Roman" pitchFamily="18" charset="0"/>
                          <a:cs typeface="Times New Roman" pitchFamily="18" charset="0"/>
                        </a:rPr>
                        <a:t>Thirumalai</a:t>
                      </a:r>
                      <a:r>
                        <a:rPr lang="en-US" sz="1800" dirty="0">
                          <a:latin typeface="Times New Roman" pitchFamily="18" charset="0"/>
                          <a:cs typeface="Times New Roman" pitchFamily="18" charset="0"/>
                        </a:rPr>
                        <a:t>, C., &amp; </a:t>
                      </a:r>
                      <a:r>
                        <a:rPr lang="en-US" sz="1800" dirty="0" err="1">
                          <a:latin typeface="Times New Roman" pitchFamily="18" charset="0"/>
                          <a:cs typeface="Times New Roman" pitchFamily="18" charset="0"/>
                        </a:rPr>
                        <a:t>Srivastava</a:t>
                      </a:r>
                      <a:r>
                        <a:rPr lang="en-US" sz="1800" dirty="0">
                          <a:latin typeface="Times New Roman" pitchFamily="18" charset="0"/>
                          <a:cs typeface="Times New Roman" pitchFamily="18" charset="0"/>
                        </a:rPr>
                        <a:t>, G. (2019)</a:t>
                      </a:r>
                    </a:p>
                  </a:txBody>
                  <a:tcPr/>
                </a:tc>
                <a:tc>
                  <a:txBody>
                    <a:bodyPr/>
                    <a:lstStyle/>
                    <a:p>
                      <a:pPr algn="just"/>
                      <a:r>
                        <a:rPr lang="en-US" sz="1800" dirty="0">
                          <a:latin typeface="Times New Roman" pitchFamily="18" charset="0"/>
                          <a:cs typeface="Times New Roman" pitchFamily="18" charset="0"/>
                        </a:rPr>
                        <a:t>Effective heart disease prediction using hybrid machine learning techniques</a:t>
                      </a:r>
                    </a:p>
                  </a:txBody>
                  <a:tcPr/>
                </a:tc>
                <a:tc>
                  <a:txBody>
                    <a:bodyPr/>
                    <a:lstStyle/>
                    <a:p>
                      <a:pPr algn="just"/>
                      <a:r>
                        <a:rPr lang="en-US" sz="1800" dirty="0">
                          <a:latin typeface="Times New Roman" pitchFamily="18" charset="0"/>
                          <a:cs typeface="Times New Roman" pitchFamily="18" charset="0"/>
                        </a:rPr>
                        <a:t>Hybrid approach combining Random Forest with feature optimization techniques</a:t>
                      </a:r>
                    </a:p>
                  </a:txBody>
                  <a:tcPr/>
                </a:tc>
                <a:tc>
                  <a:txBody>
                    <a:bodyPr/>
                    <a:lstStyle/>
                    <a:p>
                      <a:pPr algn="just"/>
                      <a:r>
                        <a:rPr lang="en-US" sz="1800" dirty="0">
                          <a:latin typeface="Times New Roman" pitchFamily="18" charset="0"/>
                          <a:cs typeface="Times New Roman" pitchFamily="18" charset="0"/>
                        </a:rPr>
                        <a:t>Parameter tuning for optimal performance; managing computational complexity of ensemble methods</a:t>
                      </a:r>
                    </a:p>
                  </a:txBody>
                  <a:tcPr/>
                </a:tc>
                <a:extLst>
                  <a:ext uri="{0D108BD9-81ED-4DB2-BD59-A6C34878D82A}">
                    <a16:rowId xmlns:a16="http://schemas.microsoft.com/office/drawing/2014/main" val="901934371"/>
                  </a:ext>
                </a:extLst>
              </a:tr>
            </a:tbl>
          </a:graphicData>
        </a:graphic>
      </p:graphicFrame>
    </p:spTree>
    <p:extLst>
      <p:ext uri="{BB962C8B-B14F-4D97-AF65-F5344CB8AC3E}">
        <p14:creationId xmlns:p14="http://schemas.microsoft.com/office/powerpoint/2010/main" val="1549006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65B7-9F24-896A-30DA-B8D300A045B3}"/>
              </a:ext>
            </a:extLst>
          </p:cNvPr>
          <p:cNvSpPr>
            <a:spLocks noGrp="1"/>
          </p:cNvSpPr>
          <p:nvPr>
            <p:ph type="title"/>
          </p:nvPr>
        </p:nvSpPr>
        <p:spPr>
          <a:xfrm>
            <a:off x="811039" y="165950"/>
            <a:ext cx="10515600" cy="721290"/>
          </a:xfrm>
        </p:spPr>
        <p:txBody>
          <a:bodyPr>
            <a:normAutofit/>
          </a:bodyPr>
          <a:lstStyle/>
          <a:p>
            <a:pPr algn="ctr"/>
            <a:r>
              <a:rPr lang="en-US" sz="3600" b="1" dirty="0">
                <a:latin typeface="Times New Roman" panose="02020603050405020304" pitchFamily="18" charset="0"/>
                <a:cs typeface="Times New Roman" panose="02020603050405020304" pitchFamily="18" charset="0"/>
              </a:rPr>
              <a:t>EXISTING SYSTEM</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3F23BE-5CD5-5C84-5D4D-6179E22FFF50}"/>
              </a:ext>
            </a:extLst>
          </p:cNvPr>
          <p:cNvSpPr>
            <a:spLocks noGrp="1"/>
          </p:cNvSpPr>
          <p:nvPr>
            <p:ph idx="1"/>
          </p:nvPr>
        </p:nvSpPr>
        <p:spPr>
          <a:xfrm>
            <a:off x="479834" y="1130346"/>
            <a:ext cx="11579381" cy="5306668"/>
          </a:xfrm>
        </p:spPr>
        <p:txBody>
          <a:bodyPr>
            <a:noAutofit/>
          </a:bodyPr>
          <a:lstStyle/>
          <a:p>
            <a:pPr algn="just">
              <a:buFont typeface="Wingdings" pitchFamily="2" charset="2"/>
              <a:buChar char="Ø"/>
            </a:pPr>
            <a:r>
              <a:rPr lang="en-US" sz="2000" b="1" dirty="0">
                <a:latin typeface="Times New Roman" pitchFamily="18" charset="0"/>
                <a:cs typeface="Times New Roman" pitchFamily="18" charset="0"/>
              </a:rPr>
              <a:t>Diverse Modeling Approaches:</a:t>
            </a:r>
            <a:r>
              <a:rPr lang="en-US" sz="2000" dirty="0">
                <a:latin typeface="Times New Roman" pitchFamily="18" charset="0"/>
                <a:cs typeface="Times New Roman" pitchFamily="18" charset="0"/>
              </a:rPr>
              <a:t> Existing systems use everything from logistic regression and decision trees to random forests and SVMs, with more recent work employing neural networks and quantum-inspired models to push accuracy above 98% .</a:t>
            </a:r>
          </a:p>
          <a:p>
            <a:pPr algn="just">
              <a:buFont typeface="Wingdings" pitchFamily="2" charset="2"/>
              <a:buChar char="Ø"/>
            </a:pPr>
            <a:r>
              <a:rPr lang="en-US" sz="2000" b="1" dirty="0">
                <a:latin typeface="Times New Roman" pitchFamily="18" charset="0"/>
                <a:cs typeface="Times New Roman" pitchFamily="18" charset="0"/>
              </a:rPr>
              <a:t>Common Datasets:</a:t>
            </a:r>
            <a:r>
              <a:rPr lang="en-US" sz="2000" dirty="0">
                <a:latin typeface="Times New Roman" pitchFamily="18" charset="0"/>
                <a:cs typeface="Times New Roman" pitchFamily="18" charset="0"/>
              </a:rPr>
              <a:t> Nearly all projects rely on public datasets such as the UCI Cleveland Heart Disease set (303 cases, 13 clinical features) or larger cohorts like Framingham for training and validation .</a:t>
            </a:r>
          </a:p>
          <a:p>
            <a:pPr algn="just">
              <a:buFont typeface="Wingdings" pitchFamily="2" charset="2"/>
              <a:buChar char="Ø"/>
            </a:pPr>
            <a:r>
              <a:rPr lang="en-US" sz="2000" b="1" dirty="0">
                <a:latin typeface="Times New Roman" pitchFamily="18" charset="0"/>
                <a:cs typeface="Times New Roman" pitchFamily="18" charset="0"/>
              </a:rPr>
              <a:t>Accuracy Spectrum:</a:t>
            </a:r>
            <a:r>
              <a:rPr lang="en-US" sz="2000" dirty="0">
                <a:latin typeface="Times New Roman" pitchFamily="18" charset="0"/>
                <a:cs typeface="Times New Roman" pitchFamily="18" charset="0"/>
              </a:rPr>
              <a:t> Traditional models typically achieve 82–90% accuracy, while advanced neural networks and ensemble methods report 97–98.6% accuracy (e.g., </a:t>
            </a:r>
            <a:r>
              <a:rPr lang="en-US" sz="2000" dirty="0" err="1">
                <a:latin typeface="Times New Roman" pitchFamily="18" charset="0"/>
                <a:cs typeface="Times New Roman" pitchFamily="18" charset="0"/>
              </a:rPr>
              <a:t>Narain</a:t>
            </a:r>
            <a:r>
              <a:rPr lang="en-US" sz="2000" dirty="0">
                <a:latin typeface="Times New Roman" pitchFamily="18" charset="0"/>
                <a:cs typeface="Times New Roman" pitchFamily="18" charset="0"/>
              </a:rPr>
              <a:t> et al., 2016) .</a:t>
            </a:r>
          </a:p>
          <a:p>
            <a:pPr algn="just">
              <a:buFont typeface="Wingdings" pitchFamily="2" charset="2"/>
              <a:buChar char="Ø"/>
            </a:pPr>
            <a:r>
              <a:rPr lang="en-US" sz="2000" b="1" dirty="0">
                <a:latin typeface="Times New Roman" pitchFamily="18" charset="0"/>
                <a:cs typeface="Times New Roman" pitchFamily="18" charset="0"/>
              </a:rPr>
              <a:t>Interpretability Gap:</a:t>
            </a:r>
            <a:r>
              <a:rPr lang="en-US" sz="2000" dirty="0">
                <a:latin typeface="Times New Roman" pitchFamily="18" charset="0"/>
                <a:cs typeface="Times New Roman" pitchFamily="18" charset="0"/>
              </a:rPr>
              <a:t> Many high accuracy “</a:t>
            </a:r>
            <a:r>
              <a:rPr lang="en-US" sz="2000" dirty="0" err="1">
                <a:latin typeface="Times New Roman" pitchFamily="18" charset="0"/>
                <a:cs typeface="Times New Roman" pitchFamily="18" charset="0"/>
              </a:rPr>
              <a:t>blackbox</a:t>
            </a:r>
            <a:r>
              <a:rPr lang="en-US" sz="2000" dirty="0">
                <a:latin typeface="Times New Roman" pitchFamily="18" charset="0"/>
                <a:cs typeface="Times New Roman" pitchFamily="18" charset="0"/>
              </a:rPr>
              <a:t>” models lack </a:t>
            </a:r>
            <a:r>
              <a:rPr lang="en-US" sz="2000" dirty="0" err="1">
                <a:latin typeface="Times New Roman" pitchFamily="18" charset="0"/>
                <a:cs typeface="Times New Roman" pitchFamily="18" charset="0"/>
              </a:rPr>
              <a:t>explainability</a:t>
            </a:r>
            <a:r>
              <a:rPr lang="en-US" sz="2000" dirty="0">
                <a:latin typeface="Times New Roman" pitchFamily="18" charset="0"/>
                <a:cs typeface="Times New Roman" pitchFamily="18" charset="0"/>
              </a:rPr>
              <a:t>, hindering clinical trust and adoption. Rule based systems offer transparency but often at the cost of lower accuracy .</a:t>
            </a:r>
          </a:p>
          <a:p>
            <a:pPr algn="just">
              <a:buFont typeface="Wingdings" pitchFamily="2" charset="2"/>
              <a:buChar char="Ø"/>
            </a:pPr>
            <a:r>
              <a:rPr lang="en-US" sz="2000" b="1" dirty="0">
                <a:latin typeface="Times New Roman" pitchFamily="18" charset="0"/>
                <a:cs typeface="Times New Roman" pitchFamily="18" charset="0"/>
              </a:rPr>
              <a:t>User Accessibility Issues:</a:t>
            </a:r>
            <a:r>
              <a:rPr lang="en-US" sz="2000" dirty="0">
                <a:latin typeface="Times New Roman" pitchFamily="18" charset="0"/>
                <a:cs typeface="Times New Roman" pitchFamily="18" charset="0"/>
              </a:rPr>
              <a:t> Most tools target researchers or clinicians, with minimal focus on intuitive, web based interfaces for lay users or patients .</a:t>
            </a:r>
          </a:p>
          <a:p>
            <a:pPr algn="just">
              <a:buFont typeface="Wingdings" pitchFamily="2" charset="2"/>
              <a:buChar char="Ø"/>
            </a:pPr>
            <a:r>
              <a:rPr lang="en-US" sz="2000" b="1" dirty="0">
                <a:latin typeface="Times New Roman" pitchFamily="18" charset="0"/>
                <a:cs typeface="Times New Roman" pitchFamily="18" charset="0"/>
              </a:rPr>
              <a:t>Scalability &amp; </a:t>
            </a:r>
            <a:r>
              <a:rPr lang="en-US" sz="2000" b="1" dirty="0" err="1">
                <a:latin typeface="Times New Roman" pitchFamily="18" charset="0"/>
                <a:cs typeface="Times New Roman" pitchFamily="18" charset="0"/>
              </a:rPr>
              <a:t>Real‑Time</a:t>
            </a:r>
            <a:r>
              <a:rPr lang="en-US" sz="2000" b="1" dirty="0">
                <a:latin typeface="Times New Roman" pitchFamily="18" charset="0"/>
                <a:cs typeface="Times New Roman" pitchFamily="18" charset="0"/>
              </a:rPr>
              <a:t> Limitations:</a:t>
            </a:r>
            <a:r>
              <a:rPr lang="en-US" sz="2000" dirty="0">
                <a:latin typeface="Times New Roman" pitchFamily="18" charset="0"/>
                <a:cs typeface="Times New Roman" pitchFamily="18" charset="0"/>
              </a:rPr>
              <a:t> Handling large datasets and delivering </a:t>
            </a:r>
            <a:r>
              <a:rPr lang="en-US" sz="2000" dirty="0" err="1">
                <a:latin typeface="Times New Roman" pitchFamily="18" charset="0"/>
                <a:cs typeface="Times New Roman" pitchFamily="18" charset="0"/>
              </a:rPr>
              <a:t>real‑time</a:t>
            </a:r>
            <a:r>
              <a:rPr lang="en-US" sz="2000" dirty="0">
                <a:latin typeface="Times New Roman" pitchFamily="18" charset="0"/>
                <a:cs typeface="Times New Roman" pitchFamily="18" charset="0"/>
              </a:rPr>
              <a:t> predictions remains a challenge; few systems simulate live data or wearable integration .</a:t>
            </a:r>
          </a:p>
          <a:p>
            <a:pPr algn="just">
              <a:buFont typeface="Wingdings" pitchFamily="2" charset="2"/>
              <a:buChar char="Ø"/>
            </a:pPr>
            <a:r>
              <a:rPr lang="en-US" sz="2000" b="1" dirty="0">
                <a:latin typeface="Times New Roman" pitchFamily="18" charset="0"/>
                <a:cs typeface="Times New Roman" pitchFamily="18" charset="0"/>
              </a:rPr>
              <a:t>Interactivity</a:t>
            </a:r>
            <a:r>
              <a:rPr lang="en-US" sz="2000" dirty="0">
                <a:latin typeface="Times New Roman" pitchFamily="18" charset="0"/>
                <a:cs typeface="Times New Roman" pitchFamily="18" charset="0"/>
              </a:rPr>
              <a:t>: Interactive features like risk simulation or personalized dashboards are uncommon and User engagement is minimal in most systems.</a:t>
            </a:r>
          </a:p>
          <a:p>
            <a:pPr algn="just">
              <a:buFont typeface="Wingdings" pitchFamily="2" charset="2"/>
              <a:buChar char="Ø"/>
            </a:pPr>
            <a:endParaRPr lang="en-US" sz="2000" dirty="0">
              <a:latin typeface="Times New Roman" pitchFamily="18" charset="0"/>
              <a:cs typeface="Times New Roman" pitchFamily="18" charset="0"/>
            </a:endParaRPr>
          </a:p>
          <a:p>
            <a:pPr algn="just">
              <a:buFont typeface="Wingdings" pitchFamily="2" charset="2"/>
              <a:buChar char="Ø"/>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30194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EA8E6-1199-AED6-C46E-4C238B057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BAAE8-B175-A42A-967F-B7D59E484D84}"/>
              </a:ext>
            </a:extLst>
          </p:cNvPr>
          <p:cNvSpPr>
            <a:spLocks noGrp="1"/>
          </p:cNvSpPr>
          <p:nvPr>
            <p:ph type="title"/>
          </p:nvPr>
        </p:nvSpPr>
        <p:spPr>
          <a:xfrm>
            <a:off x="664972" y="126748"/>
            <a:ext cx="10515600" cy="778599"/>
          </a:xfrm>
        </p:spPr>
        <p:txBody>
          <a:bodyPr>
            <a:normAutofit/>
          </a:bodyPr>
          <a:lstStyle/>
          <a:p>
            <a:pPr algn="ctr"/>
            <a:r>
              <a:rPr lang="en-US" sz="3600" b="1" dirty="0">
                <a:latin typeface="Times New Roman" panose="02020603050405020304" pitchFamily="18" charset="0"/>
                <a:cs typeface="Times New Roman" panose="02020603050405020304" pitchFamily="18" charset="0"/>
              </a:rPr>
              <a:t>CHALLENGES IN CURRENT SYSTEMS</a:t>
            </a:r>
            <a:endParaRPr lang="en-IN" sz="36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B6A7D29-A8B8-8498-F6D1-24A1CC4AD5AA}"/>
              </a:ext>
            </a:extLst>
          </p:cNvPr>
          <p:cNvSpPr>
            <a:spLocks noGrp="1" noChangeArrowheads="1"/>
          </p:cNvSpPr>
          <p:nvPr>
            <p:ph idx="1"/>
          </p:nvPr>
        </p:nvSpPr>
        <p:spPr bwMode="auto">
          <a:xfrm>
            <a:off x="416460" y="1054266"/>
            <a:ext cx="10927075" cy="499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000" b="1" dirty="0">
                <a:latin typeface="Times New Roman" panose="02020603050405020304" pitchFamily="18" charset="0"/>
                <a:cs typeface="Times New Roman" panose="02020603050405020304" pitchFamily="18" charset="0"/>
              </a:rPr>
              <a:t>1. Limited Interpretability: </a:t>
            </a:r>
            <a:r>
              <a:rPr lang="en-US" sz="2000" dirty="0">
                <a:latin typeface="Times New Roman" panose="02020603050405020304" pitchFamily="18" charset="0"/>
                <a:cs typeface="Times New Roman" panose="02020603050405020304" pitchFamily="18" charset="0"/>
              </a:rPr>
              <a:t>Many systems act as "black-box" models, making it hard to understand prediction reasoning.</a:t>
            </a:r>
          </a:p>
          <a:p>
            <a:pPr marL="0" indent="0" algn="just">
              <a:buNone/>
            </a:pPr>
            <a:r>
              <a:rPr lang="en-US" sz="2000" b="1" dirty="0">
                <a:latin typeface="Times New Roman" panose="02020603050405020304" pitchFamily="18" charset="0"/>
                <a:cs typeface="Times New Roman" panose="02020603050405020304" pitchFamily="18" charset="0"/>
              </a:rPr>
              <a:t>2. User Accessibility: </a:t>
            </a:r>
            <a:r>
              <a:rPr lang="en-US" sz="2000" dirty="0">
                <a:latin typeface="Times New Roman" panose="02020603050405020304" pitchFamily="18" charset="0"/>
                <a:cs typeface="Times New Roman" panose="02020603050405020304" pitchFamily="18" charset="0"/>
              </a:rPr>
              <a:t>Most tools are designed for experts, lacking intuitive interfaces for general users.</a:t>
            </a:r>
          </a:p>
          <a:p>
            <a:pPr marL="0" indent="0" algn="just">
              <a:buNone/>
            </a:pPr>
            <a:r>
              <a:rPr lang="en-US" sz="2000" b="1" dirty="0">
                <a:latin typeface="Times New Roman" panose="02020603050405020304" pitchFamily="18" charset="0"/>
                <a:cs typeface="Times New Roman" panose="02020603050405020304" pitchFamily="18" charset="0"/>
              </a:rPr>
              <a:t>3. Scalability Issues: </a:t>
            </a:r>
            <a:r>
              <a:rPr lang="en-US" sz="2000" dirty="0">
                <a:latin typeface="Times New Roman" panose="02020603050405020304" pitchFamily="18" charset="0"/>
                <a:cs typeface="Times New Roman" panose="02020603050405020304" pitchFamily="18" charset="0"/>
              </a:rPr>
              <a:t>Systems struggle to handle large datasets or deliver real-time predictions efficiently.</a:t>
            </a:r>
          </a:p>
          <a:p>
            <a:pPr marL="0" indent="0" algn="just">
              <a:buNone/>
            </a:pPr>
            <a:r>
              <a:rPr lang="en-US" sz="2000" b="1" dirty="0">
                <a:latin typeface="Times New Roman" panose="02020603050405020304" pitchFamily="18" charset="0"/>
                <a:cs typeface="Times New Roman" panose="02020603050405020304" pitchFamily="18" charset="0"/>
              </a:rPr>
              <a:t>4. Data Handling: </a:t>
            </a:r>
            <a:r>
              <a:rPr lang="en-US" sz="2000" dirty="0">
                <a:latin typeface="Times New Roman" panose="02020603050405020304" pitchFamily="18" charset="0"/>
                <a:cs typeface="Times New Roman" panose="02020603050405020304" pitchFamily="18" charset="0"/>
              </a:rPr>
              <a:t>Manual preprocessing, like imputing missing values, is error-prone and time-consuming.</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5. Non-Linear Pattern Recognition:</a:t>
            </a:r>
            <a:r>
              <a:rPr lang="en-US" sz="2000" dirty="0">
                <a:latin typeface="Times New Roman" panose="02020603050405020304" pitchFamily="18" charset="0"/>
                <a:cs typeface="Times New Roman" panose="02020603050405020304" pitchFamily="18" charset="0"/>
              </a:rPr>
              <a:t> Traditional models fail to capture complex, non-linear relationships in health data.</a:t>
            </a:r>
          </a:p>
          <a:p>
            <a:pPr marL="0" indent="0" algn="just">
              <a:buNone/>
            </a:pPr>
            <a:r>
              <a:rPr lang="en-US" sz="2000" b="1" dirty="0">
                <a:latin typeface="Times New Roman" panose="02020603050405020304" pitchFamily="18" charset="0"/>
                <a:cs typeface="Times New Roman" panose="02020603050405020304" pitchFamily="18" charset="0"/>
              </a:rPr>
              <a:t>6. Dataset Limitations: </a:t>
            </a:r>
            <a:r>
              <a:rPr lang="en-US" sz="2000" dirty="0">
                <a:latin typeface="Times New Roman" panose="02020603050405020304" pitchFamily="18" charset="0"/>
                <a:cs typeface="Times New Roman" panose="02020603050405020304" pitchFamily="18" charset="0"/>
              </a:rPr>
              <a:t>Small or outdated datasets restrict generalization across diverse populations.</a:t>
            </a:r>
          </a:p>
          <a:p>
            <a:pPr marL="0" indent="0" algn="just">
              <a:buNone/>
            </a:pPr>
            <a:r>
              <a:rPr lang="en-US" sz="2000" b="1" dirty="0">
                <a:latin typeface="Times New Roman" panose="02020603050405020304" pitchFamily="18" charset="0"/>
                <a:cs typeface="Times New Roman" panose="02020603050405020304" pitchFamily="18" charset="0"/>
              </a:rPr>
              <a:t>7. Lack of Interactivity: </a:t>
            </a:r>
            <a:r>
              <a:rPr lang="en-US" sz="2000" dirty="0">
                <a:latin typeface="Times New Roman" panose="02020603050405020304" pitchFamily="18" charset="0"/>
                <a:cs typeface="Times New Roman" panose="02020603050405020304" pitchFamily="18" charset="0"/>
              </a:rPr>
              <a:t>Few systems offer interactive features like risk simulation or user dashboards.</a:t>
            </a:r>
          </a:p>
          <a:p>
            <a:pPr marL="0" indent="0" algn="just">
              <a:buNone/>
            </a:pPr>
            <a:r>
              <a:rPr lang="en-US" sz="2000" b="1" dirty="0">
                <a:latin typeface="Times New Roman" panose="02020603050405020304" pitchFamily="18" charset="0"/>
                <a:cs typeface="Times New Roman" panose="02020603050405020304" pitchFamily="18" charset="0"/>
              </a:rPr>
              <a:t>8. </a:t>
            </a:r>
            <a:r>
              <a:rPr lang="en-US" sz="2000" b="1" dirty="0" err="1">
                <a:latin typeface="Times New Roman" panose="02020603050405020304" pitchFamily="18" charset="0"/>
                <a:cs typeface="Times New Roman" panose="02020603050405020304" pitchFamily="18" charset="0"/>
              </a:rPr>
              <a:t>Explainability</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Advanced models rarely provide clear explanations, reducing trust and usability.</a:t>
            </a:r>
          </a:p>
          <a:p>
            <a:pPr marL="0" indent="0" algn="just">
              <a:buNone/>
            </a:pPr>
            <a:r>
              <a:rPr lang="en-US" sz="2000" b="1" dirty="0">
                <a:latin typeface="Times New Roman" panose="02020603050405020304" pitchFamily="18" charset="0"/>
                <a:cs typeface="Times New Roman" panose="02020603050405020304" pitchFamily="18" charset="0"/>
              </a:rPr>
              <a:t>9. User Engagement: </a:t>
            </a:r>
            <a:r>
              <a:rPr lang="en-US" sz="2000" dirty="0">
                <a:latin typeface="Times New Roman" panose="02020603050405020304" pitchFamily="18" charset="0"/>
                <a:cs typeface="Times New Roman" panose="02020603050405020304" pitchFamily="18" charset="0"/>
              </a:rPr>
              <a:t>Limited educational content or personalized advice hinders user motivation and action.</a:t>
            </a:r>
          </a:p>
        </p:txBody>
      </p:sp>
    </p:spTree>
    <p:extLst>
      <p:ext uri="{BB962C8B-B14F-4D97-AF65-F5344CB8AC3E}">
        <p14:creationId xmlns:p14="http://schemas.microsoft.com/office/powerpoint/2010/main" val="3110858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B99F5-9669-EF0F-C2B8-F6172D51F0CA}"/>
              </a:ext>
            </a:extLst>
          </p:cNvPr>
          <p:cNvSpPr>
            <a:spLocks noGrp="1"/>
          </p:cNvSpPr>
          <p:nvPr>
            <p:ph type="title"/>
          </p:nvPr>
        </p:nvSpPr>
        <p:spPr>
          <a:xfrm>
            <a:off x="786631" y="198768"/>
            <a:ext cx="10515600" cy="1077771"/>
          </a:xfrm>
        </p:spPr>
        <p:txBody>
          <a:bodyPr>
            <a:normAutofit/>
          </a:bodyPr>
          <a:lstStyle/>
          <a:p>
            <a:pPr algn="ctr"/>
            <a:r>
              <a:rPr lang="en-US" sz="3600" b="1" dirty="0">
                <a:latin typeface="Times New Roman" panose="02020603050405020304" pitchFamily="18" charset="0"/>
                <a:cs typeface="Times New Roman" panose="02020603050405020304" pitchFamily="18" charset="0"/>
              </a:rPr>
              <a:t>PROBLEM STATEMENT</a:t>
            </a:r>
            <a:endParaRPr lang="en-IN" sz="36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F63B8CC-C3C4-E1F0-9F3B-6895A3B5EF7B}"/>
              </a:ext>
            </a:extLst>
          </p:cNvPr>
          <p:cNvSpPr>
            <a:spLocks noGrp="1" noChangeArrowheads="1"/>
          </p:cNvSpPr>
          <p:nvPr>
            <p:ph idx="1"/>
          </p:nvPr>
        </p:nvSpPr>
        <p:spPr bwMode="auto">
          <a:xfrm>
            <a:off x="307818" y="1306281"/>
            <a:ext cx="11543167" cy="4657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lnSpc>
                <a:spcPct val="100000"/>
              </a:lnSpc>
              <a:buFont typeface="Wingdings" pitchFamily="2" charset="2"/>
              <a:buChar char="Ø"/>
            </a:pPr>
            <a:r>
              <a:rPr lang="en-US" sz="2000" dirty="0">
                <a:latin typeface="Times New Roman" panose="02020603050405020304" pitchFamily="18" charset="0"/>
                <a:cs typeface="Times New Roman" panose="02020603050405020304" pitchFamily="18" charset="0"/>
              </a:rPr>
              <a:t> Heart disease remains a leading cause of death worldwide, necessitating effective and accessible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risk assessment tools to enable early intervention and prevention. However, current heart disease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prediction systems face significant limitations, including limited interpretability due to "</a:t>
            </a:r>
            <a:r>
              <a:rPr lang="en-US" sz="2000" dirty="0" err="1">
                <a:latin typeface="Times New Roman" panose="02020603050405020304" pitchFamily="18" charset="0"/>
                <a:cs typeface="Times New Roman" panose="02020603050405020304" pitchFamily="18" charset="0"/>
              </a:rPr>
              <a:t>blackbox</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models, poor user accessibility with complex interfaces designed for experts, and scalability issues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that hinder real-time or large-scale use.</a:t>
            </a:r>
          </a:p>
          <a:p>
            <a:pPr marL="0" indent="0" algn="just">
              <a:lnSpc>
                <a:spcPct val="100000"/>
              </a:lnSpc>
              <a:buFont typeface="Wingdings" pitchFamily="2" charset="2"/>
              <a:buChar char="Ø"/>
            </a:pPr>
            <a:r>
              <a:rPr lang="en-US" sz="2000" dirty="0">
                <a:latin typeface="Times New Roman" panose="02020603050405020304" pitchFamily="18" charset="0"/>
                <a:cs typeface="Times New Roman" panose="02020603050405020304" pitchFamily="18" charset="0"/>
              </a:rPr>
              <a:t> Data handling is often manual and error-prone, while traditional models struggle to recognize non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linear patterns in health data, reducing prediction accuracy. Moreover, these systems rely on small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or outdated datasets, lack interactive features like risk simulation, and fail to provide explainable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insights or engage users with educational resources. </a:t>
            </a:r>
          </a:p>
          <a:p>
            <a:pPr marL="0" indent="0" algn="just">
              <a:lnSpc>
                <a:spcPct val="100000"/>
              </a:lnSpc>
              <a:buFont typeface="Wingdings" pitchFamily="2" charset="2"/>
              <a:buChar char="Ø"/>
            </a:pPr>
            <a:r>
              <a:rPr lang="en-US" sz="2000" dirty="0">
                <a:latin typeface="Times New Roman" panose="02020603050405020304" pitchFamily="18" charset="0"/>
                <a:cs typeface="Times New Roman" panose="02020603050405020304" pitchFamily="18" charset="0"/>
              </a:rPr>
              <a:t>This creates a critical gap, leaving individuals without transparent, user-friendly tools to understand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and manage their heart health proactively. The Heart Disease Prediction Project addresses these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challenges by developing a web application that leverages advanced machine learning models with</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90% accuracy, incorporates explainable AI via SHAP, and offers interactive risk simulation and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personalized health advice</a:t>
            </a:r>
          </a:p>
        </p:txBody>
      </p:sp>
    </p:spTree>
    <p:extLst>
      <p:ext uri="{BB962C8B-B14F-4D97-AF65-F5344CB8AC3E}">
        <p14:creationId xmlns:p14="http://schemas.microsoft.com/office/powerpoint/2010/main" val="1983534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502CA-2FA6-8D17-1AD7-33E40BC25582}"/>
              </a:ext>
            </a:extLst>
          </p:cNvPr>
          <p:cNvSpPr>
            <a:spLocks noGrp="1"/>
          </p:cNvSpPr>
          <p:nvPr>
            <p:ph type="title"/>
          </p:nvPr>
        </p:nvSpPr>
        <p:spPr>
          <a:xfrm>
            <a:off x="838200" y="0"/>
            <a:ext cx="10515600" cy="943897"/>
          </a:xfrm>
        </p:spPr>
        <p:txBody>
          <a:bodyPr>
            <a:normAutofit/>
          </a:bodyPr>
          <a:lstStyle/>
          <a:p>
            <a:pPr algn="ctr"/>
            <a:r>
              <a:rPr lang="en-US" sz="3600" b="1" dirty="0">
                <a:latin typeface="Times New Roman" panose="02020603050405020304" pitchFamily="18" charset="0"/>
                <a:cs typeface="Times New Roman" panose="02020603050405020304" pitchFamily="18" charset="0"/>
              </a:rPr>
              <a:t>PROPOSED SYSTEM</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A85A61-AE89-B6C7-1753-D4211B0F005E}"/>
              </a:ext>
            </a:extLst>
          </p:cNvPr>
          <p:cNvSpPr>
            <a:spLocks noGrp="1"/>
          </p:cNvSpPr>
          <p:nvPr>
            <p:ph idx="1"/>
          </p:nvPr>
        </p:nvSpPr>
        <p:spPr>
          <a:xfrm>
            <a:off x="383458" y="943897"/>
            <a:ext cx="11425084" cy="5701347"/>
          </a:xfrm>
        </p:spPr>
        <p:txBody>
          <a:bodyPr>
            <a:noAutofit/>
          </a:bodyPr>
          <a:lstStyle/>
          <a:p>
            <a:r>
              <a:rPr lang="en-US" sz="2000" b="1" dirty="0">
                <a:latin typeface="Times New Roman" pitchFamily="18" charset="0"/>
                <a:cs typeface="Times New Roman" pitchFamily="18" charset="0"/>
              </a:rPr>
              <a:t>Advanced Machine Learning Models</a:t>
            </a:r>
            <a:r>
              <a:rPr lang="en-US" sz="2000" dirty="0">
                <a:latin typeface="Times New Roman" pitchFamily="18" charset="0"/>
                <a:cs typeface="Times New Roman" pitchFamily="18" charset="0"/>
              </a:rPr>
              <a:t>: The system employs an ensemble of models (Random Forest, Neural Networks, Logistic Regression, Ensemble and SVM), achieving 90% accuracy, to provide highly reliable heart disease risk predictions based on user-input health data.</a:t>
            </a:r>
          </a:p>
          <a:p>
            <a:r>
              <a:rPr lang="en-US" sz="2000" b="1" dirty="0">
                <a:latin typeface="Times New Roman" pitchFamily="18" charset="0"/>
                <a:cs typeface="Times New Roman" pitchFamily="18" charset="0"/>
              </a:rPr>
              <a:t>Explainable AI with SHAP</a:t>
            </a:r>
            <a:r>
              <a:rPr lang="en-US" sz="2000" dirty="0">
                <a:latin typeface="Times New Roman" pitchFamily="18" charset="0"/>
                <a:cs typeface="Times New Roman" pitchFamily="18" charset="0"/>
              </a:rPr>
              <a:t>: Integrates SHAP (</a:t>
            </a:r>
            <a:r>
              <a:rPr lang="en-US" sz="2000" dirty="0" err="1">
                <a:latin typeface="Times New Roman" pitchFamily="18" charset="0"/>
                <a:cs typeface="Times New Roman" pitchFamily="18" charset="0"/>
              </a:rPr>
              <a:t>SHapley</a:t>
            </a:r>
            <a:r>
              <a:rPr lang="en-US" sz="2000" dirty="0">
                <a:latin typeface="Times New Roman" pitchFamily="18" charset="0"/>
                <a:cs typeface="Times New Roman" pitchFamily="18" charset="0"/>
              </a:rPr>
              <a:t> Additive </a:t>
            </a:r>
            <a:r>
              <a:rPr lang="en-US" sz="2000" dirty="0" err="1">
                <a:latin typeface="Times New Roman" pitchFamily="18" charset="0"/>
                <a:cs typeface="Times New Roman" pitchFamily="18" charset="0"/>
              </a:rPr>
              <a:t>exPlanations</a:t>
            </a:r>
            <a:r>
              <a:rPr lang="en-US" sz="2000" dirty="0">
                <a:latin typeface="Times New Roman" pitchFamily="18" charset="0"/>
                <a:cs typeface="Times New Roman" pitchFamily="18" charset="0"/>
              </a:rPr>
              <a:t>) to offer clear, transparent explanations of predictions, showing how each health factor (e.g., cholesterol, blood pressure) contributes to the risk score, enhancing user trust and clinical utility.</a:t>
            </a:r>
          </a:p>
          <a:p>
            <a:r>
              <a:rPr lang="en-US" sz="2000" b="1" dirty="0">
                <a:latin typeface="Times New Roman" pitchFamily="18" charset="0"/>
                <a:cs typeface="Times New Roman" pitchFamily="18" charset="0"/>
              </a:rPr>
              <a:t>Interactive Risk Simulation</a:t>
            </a:r>
            <a:r>
              <a:rPr lang="en-US" sz="2000" dirty="0">
                <a:latin typeface="Times New Roman" pitchFamily="18" charset="0"/>
                <a:cs typeface="Times New Roman" pitchFamily="18" charset="0"/>
              </a:rPr>
              <a:t>: Features a user-friendly tool allowing individuals to adjust health metrics (e.g., lowering cholesterol) in real-time to see how changes impact their risk, promoting proactive health management.</a:t>
            </a:r>
          </a:p>
          <a:p>
            <a:r>
              <a:rPr lang="en-US" sz="2000" b="1" dirty="0">
                <a:latin typeface="Times New Roman" pitchFamily="18" charset="0"/>
                <a:cs typeface="Times New Roman" pitchFamily="18" charset="0"/>
              </a:rPr>
              <a:t>Comprehensive Feature Importance Visualization</a:t>
            </a:r>
            <a:r>
              <a:rPr lang="en-US" sz="2000" dirty="0">
                <a:latin typeface="Times New Roman" pitchFamily="18" charset="0"/>
                <a:cs typeface="Times New Roman" pitchFamily="18" charset="0"/>
              </a:rPr>
              <a:t>: Provides interactive charts to highlight which health factors most influence risk, both globally across all users and locally for individual predictions, aiding in understanding key risk drivers.</a:t>
            </a:r>
          </a:p>
          <a:p>
            <a:r>
              <a:rPr lang="en-US" sz="2000" b="1" dirty="0">
                <a:latin typeface="Times New Roman" pitchFamily="18" charset="0"/>
                <a:cs typeface="Times New Roman" pitchFamily="18" charset="0"/>
              </a:rPr>
              <a:t>Personalized Health Advice via AI Assistant</a:t>
            </a:r>
            <a:r>
              <a:rPr lang="en-US" sz="2000" dirty="0">
                <a:latin typeface="Times New Roman" pitchFamily="18" charset="0"/>
                <a:cs typeface="Times New Roman" pitchFamily="18" charset="0"/>
              </a:rPr>
              <a:t>: Utilizes Google’s Gemini API to deliver tailored health recommendations and answers to user questions, making complex medical insights accessible and actionable.</a:t>
            </a:r>
          </a:p>
          <a:p>
            <a:r>
              <a:rPr lang="en-US" sz="2000" b="1" dirty="0">
                <a:latin typeface="Times New Roman" pitchFamily="18" charset="0"/>
                <a:cs typeface="Times New Roman" pitchFamily="18" charset="0"/>
              </a:rPr>
              <a:t>User Authentication and Risk Tracking</a:t>
            </a:r>
            <a:r>
              <a:rPr lang="en-US" sz="2000" dirty="0">
                <a:latin typeface="Times New Roman" pitchFamily="18" charset="0"/>
                <a:cs typeface="Times New Roman" pitchFamily="18" charset="0"/>
              </a:rPr>
              <a:t>: Implements secure login with Firebase, enabling users to save and monitor their risk assessments over time through a personalized dashboard, fostering long-term engagement.</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288800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502CA-2FA6-8D17-1AD7-33E40BC25582}"/>
              </a:ext>
            </a:extLst>
          </p:cNvPr>
          <p:cNvSpPr>
            <a:spLocks noGrp="1"/>
          </p:cNvSpPr>
          <p:nvPr>
            <p:ph type="title"/>
          </p:nvPr>
        </p:nvSpPr>
        <p:spPr>
          <a:xfrm>
            <a:off x="838200" y="0"/>
            <a:ext cx="10515600" cy="943897"/>
          </a:xfrm>
        </p:spPr>
        <p:txBody>
          <a:bodyPr>
            <a:normAutofit/>
          </a:bodyPr>
          <a:lstStyle/>
          <a:p>
            <a:pPr algn="ctr"/>
            <a:r>
              <a:rPr lang="en-US" sz="3600" b="1" dirty="0">
                <a:latin typeface="Times New Roman" panose="02020603050405020304" pitchFamily="18" charset="0"/>
                <a:cs typeface="Times New Roman" panose="02020603050405020304" pitchFamily="18" charset="0"/>
              </a:rPr>
              <a:t>PROPOSED SYSTEM</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A85A61-AE89-B6C7-1753-D4211B0F005E}"/>
              </a:ext>
            </a:extLst>
          </p:cNvPr>
          <p:cNvSpPr>
            <a:spLocks noGrp="1"/>
          </p:cNvSpPr>
          <p:nvPr>
            <p:ph idx="1"/>
          </p:nvPr>
        </p:nvSpPr>
        <p:spPr>
          <a:xfrm>
            <a:off x="383458" y="943897"/>
            <a:ext cx="11425084" cy="5535561"/>
          </a:xfrm>
        </p:spPr>
        <p:txBody>
          <a:bodyPr>
            <a:noAutofit/>
          </a:bodyPr>
          <a:lstStyle/>
          <a:p>
            <a:r>
              <a:rPr lang="en-US" sz="2000" b="1" dirty="0">
                <a:latin typeface="Times New Roman" pitchFamily="18" charset="0"/>
                <a:cs typeface="Times New Roman" pitchFamily="18" charset="0"/>
              </a:rPr>
              <a:t>Educational Health Resources</a:t>
            </a:r>
            <a:r>
              <a:rPr lang="en-US" sz="2000" dirty="0">
                <a:latin typeface="Times New Roman" pitchFamily="18" charset="0"/>
                <a:cs typeface="Times New Roman" pitchFamily="18" charset="0"/>
              </a:rPr>
              <a:t>: Offers integrated content on heart disease prevention and management, sourced from reputable guidelines, empowering users with knowledge to improve their health.</a:t>
            </a:r>
          </a:p>
          <a:p>
            <a:r>
              <a:rPr lang="en-US" sz="2000" b="1" dirty="0">
                <a:latin typeface="Times New Roman" pitchFamily="18" charset="0"/>
                <a:cs typeface="Times New Roman" pitchFamily="18" charset="0"/>
              </a:rPr>
              <a:t>Automated Data Preprocessing</a:t>
            </a:r>
            <a:r>
              <a:rPr lang="en-US" sz="2000" dirty="0">
                <a:latin typeface="Times New Roman" pitchFamily="18" charset="0"/>
                <a:cs typeface="Times New Roman" pitchFamily="18" charset="0"/>
              </a:rPr>
              <a:t>: Automates data cleaning (e.g., imputing missing values), encoding (e.g., one-hot for categorical data), and scaling, ensuring high-quality inputs for accurate predictions.</a:t>
            </a:r>
          </a:p>
          <a:p>
            <a:r>
              <a:rPr lang="en-US" sz="2000" b="1" dirty="0">
                <a:latin typeface="Times New Roman" pitchFamily="18" charset="0"/>
                <a:cs typeface="Times New Roman" pitchFamily="18" charset="0"/>
              </a:rPr>
              <a:t>Ensemble Strength:</a:t>
            </a:r>
            <a:r>
              <a:rPr lang="en-US" sz="2000" dirty="0">
                <a:latin typeface="Times New Roman" pitchFamily="18" charset="0"/>
                <a:cs typeface="Times New Roman" pitchFamily="18" charset="0"/>
              </a:rPr>
              <a:t> Your project’s ensemble (Random Forest + Neural Network) achieves 90% accuracy, 91% precision, 89% recall, and 0.94 AUC—competitive with top published systems </a:t>
            </a:r>
          </a:p>
          <a:p>
            <a:r>
              <a:rPr lang="en-US" sz="2000" b="1" dirty="0">
                <a:latin typeface="Times New Roman" pitchFamily="18" charset="0"/>
                <a:cs typeface="Times New Roman" pitchFamily="18" charset="0"/>
              </a:rPr>
              <a:t>Comprehensive UI/UX:</a:t>
            </a:r>
            <a:r>
              <a:rPr lang="en-US" sz="2000" dirty="0">
                <a:latin typeface="Times New Roman" pitchFamily="18" charset="0"/>
                <a:cs typeface="Times New Roman" pitchFamily="18" charset="0"/>
              </a:rPr>
              <a:t> A React.js + Chakra UI frontend delivers a clean, responsive interface, complete with dashboards, model comparison charts, and history tracking—bridging the accessibility gap.</a:t>
            </a:r>
          </a:p>
          <a:p>
            <a:r>
              <a:rPr lang="en-US" sz="2000" b="1" dirty="0">
                <a:latin typeface="Times New Roman" pitchFamily="18" charset="0"/>
                <a:cs typeface="Times New Roman" pitchFamily="18" charset="0"/>
              </a:rPr>
              <a:t>AI Assistant Feature:</a:t>
            </a:r>
            <a:r>
              <a:rPr lang="en-US" sz="2000" dirty="0">
                <a:latin typeface="Times New Roman" pitchFamily="18" charset="0"/>
                <a:cs typeface="Times New Roman" pitchFamily="18" charset="0"/>
              </a:rPr>
              <a:t> Powered by Google’s Gemini API, your on‑site assistant guides users through the app, answers FAQs, and offers personalized health recommendations.</a:t>
            </a:r>
          </a:p>
          <a:p>
            <a:r>
              <a:rPr lang="en-US" sz="2000" b="1" dirty="0">
                <a:latin typeface="Times New Roman" pitchFamily="18" charset="0"/>
                <a:cs typeface="Times New Roman" pitchFamily="18" charset="0"/>
              </a:rPr>
              <a:t>Robust Tech Stack:</a:t>
            </a:r>
            <a:r>
              <a:rPr lang="en-US" sz="2000" dirty="0">
                <a:latin typeface="Times New Roman" pitchFamily="18" charset="0"/>
                <a:cs typeface="Times New Roman" pitchFamily="18" charset="0"/>
              </a:rPr>
              <a:t> Backend built on Flask, </a:t>
            </a:r>
            <a:r>
              <a:rPr lang="en-US" sz="2000" dirty="0" err="1">
                <a:latin typeface="Times New Roman" pitchFamily="18" charset="0"/>
                <a:cs typeface="Times New Roman" pitchFamily="18" charset="0"/>
              </a:rPr>
              <a:t>Scikit‑learn</a:t>
            </a:r>
            <a:r>
              <a:rPr lang="en-US" sz="2000" dirty="0">
                <a:latin typeface="Times New Roman" pitchFamily="18" charset="0"/>
                <a:cs typeface="Times New Roman" pitchFamily="18" charset="0"/>
              </a:rPr>
              <a:t>, and </a:t>
            </a:r>
            <a:r>
              <a:rPr lang="en-US" sz="2000" dirty="0" err="1">
                <a:latin typeface="Times New Roman" pitchFamily="18" charset="0"/>
                <a:cs typeface="Times New Roman" pitchFamily="18" charset="0"/>
              </a:rPr>
              <a:t>TensorFlow</a:t>
            </a:r>
            <a:r>
              <a:rPr lang="en-US" sz="2000" dirty="0">
                <a:latin typeface="Times New Roman" pitchFamily="18" charset="0"/>
                <a:cs typeface="Times New Roman" pitchFamily="18" charset="0"/>
              </a:rPr>
              <a:t> (for neural nets), with </a:t>
            </a:r>
            <a:r>
              <a:rPr lang="en-US" sz="2000" dirty="0" err="1">
                <a:latin typeface="Times New Roman" pitchFamily="18" charset="0"/>
                <a:cs typeface="Times New Roman" pitchFamily="18" charset="0"/>
              </a:rPr>
              <a:t>SQLite</a:t>
            </a:r>
            <a:r>
              <a:rPr lang="en-US" sz="2000" dirty="0">
                <a:latin typeface="Times New Roman" pitchFamily="18" charset="0"/>
                <a:cs typeface="Times New Roman" pitchFamily="18" charset="0"/>
              </a:rPr>
              <a:t> for user data—ensuring flexibility, speed, and easy deployment.</a:t>
            </a:r>
          </a:p>
          <a:p>
            <a:r>
              <a:rPr lang="en-US" sz="2000" b="1" dirty="0">
                <a:latin typeface="Times New Roman" pitchFamily="18" charset="0"/>
                <a:cs typeface="Times New Roman" pitchFamily="18" charset="0"/>
              </a:rPr>
              <a:t>Modular, Scalable Architecture:</a:t>
            </a:r>
            <a:r>
              <a:rPr lang="en-US" sz="2000" dirty="0">
                <a:latin typeface="Times New Roman" pitchFamily="18" charset="0"/>
                <a:cs typeface="Times New Roman" pitchFamily="18" charset="0"/>
              </a:rPr>
              <a:t> A </a:t>
            </a:r>
            <a:r>
              <a:rPr lang="en-US" sz="2000" dirty="0" err="1">
                <a:latin typeface="Times New Roman" pitchFamily="18" charset="0"/>
                <a:cs typeface="Times New Roman" pitchFamily="18" charset="0"/>
              </a:rPr>
              <a:t>RESTful</a:t>
            </a:r>
            <a:r>
              <a:rPr lang="en-US" sz="2000" dirty="0">
                <a:latin typeface="Times New Roman" pitchFamily="18" charset="0"/>
                <a:cs typeface="Times New Roman" pitchFamily="18" charset="0"/>
              </a:rPr>
              <a:t> API design separates concerns (prediction, explanation, chat), ready for cloud deployment on </a:t>
            </a:r>
            <a:r>
              <a:rPr lang="en-US" sz="2000" dirty="0" err="1">
                <a:latin typeface="Times New Roman" pitchFamily="18" charset="0"/>
                <a:cs typeface="Times New Roman" pitchFamily="18" charset="0"/>
              </a:rPr>
              <a:t>Heroku</a:t>
            </a:r>
            <a:r>
              <a:rPr lang="en-US" sz="2000" dirty="0">
                <a:latin typeface="Times New Roman" pitchFamily="18" charset="0"/>
                <a:cs typeface="Times New Roman" pitchFamily="18" charset="0"/>
              </a:rPr>
              <a:t>/AWS and horizontal scaling.</a:t>
            </a:r>
          </a:p>
          <a:p>
            <a:r>
              <a:rPr lang="en-US" sz="2000" b="1" dirty="0">
                <a:latin typeface="Times New Roman" pitchFamily="18" charset="0"/>
                <a:cs typeface="Times New Roman" pitchFamily="18" charset="0"/>
              </a:rPr>
              <a:t>Future Directions:</a:t>
            </a:r>
            <a:r>
              <a:rPr lang="en-US" sz="2000" dirty="0">
                <a:latin typeface="Times New Roman" pitchFamily="18" charset="0"/>
                <a:cs typeface="Times New Roman" pitchFamily="18" charset="0"/>
              </a:rPr>
              <a:t> Roadmap includes advanced hybrid models (e.g., CNN‑LSTM), EHR integration, mobile app development, </a:t>
            </a:r>
            <a:r>
              <a:rPr lang="en-US" sz="2000" dirty="0" err="1">
                <a:latin typeface="Times New Roman" pitchFamily="18" charset="0"/>
                <a:cs typeface="Times New Roman" pitchFamily="18" charset="0"/>
              </a:rPr>
              <a:t>multi‑language</a:t>
            </a:r>
            <a:r>
              <a:rPr lang="en-US" sz="2000" dirty="0">
                <a:latin typeface="Times New Roman" pitchFamily="18" charset="0"/>
                <a:cs typeface="Times New Roman" pitchFamily="18" charset="0"/>
              </a:rPr>
              <a:t> support, and </a:t>
            </a:r>
            <a:r>
              <a:rPr lang="en-US" sz="2000" dirty="0" err="1">
                <a:latin typeface="Times New Roman" pitchFamily="18" charset="0"/>
                <a:cs typeface="Times New Roman" pitchFamily="18" charset="0"/>
              </a:rPr>
              <a:t>social‑sharing</a:t>
            </a:r>
            <a:r>
              <a:rPr lang="en-US" sz="2000" dirty="0">
                <a:latin typeface="Times New Roman" pitchFamily="18" charset="0"/>
                <a:cs typeface="Times New Roman" pitchFamily="18" charset="0"/>
              </a:rPr>
              <a:t> capabilities.</a:t>
            </a: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288800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C334-6B50-025C-F321-6D20793AD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25704-D720-88AA-7922-EBBD2D33477D}"/>
              </a:ext>
            </a:extLst>
          </p:cNvPr>
          <p:cNvSpPr>
            <a:spLocks noGrp="1"/>
          </p:cNvSpPr>
          <p:nvPr>
            <p:ph type="title"/>
          </p:nvPr>
        </p:nvSpPr>
        <p:spPr>
          <a:xfrm>
            <a:off x="838200" y="30827"/>
            <a:ext cx="10515600" cy="763794"/>
          </a:xfrm>
        </p:spPr>
        <p:txBody>
          <a:bodyPr>
            <a:normAutofit/>
          </a:bodyPr>
          <a:lstStyle/>
          <a:p>
            <a:pPr algn="ctr"/>
            <a:r>
              <a:rPr lang="en-US" sz="3600" b="1" dirty="0">
                <a:latin typeface="Times New Roman" panose="02020603050405020304" pitchFamily="18" charset="0"/>
                <a:cs typeface="Times New Roman" panose="02020603050405020304" pitchFamily="18" charset="0"/>
              </a:rPr>
              <a:t>REQUIREMENT ANALYSIS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7D2916-B8ED-9E57-95BD-3419E46C2CE9}"/>
              </a:ext>
            </a:extLst>
          </p:cNvPr>
          <p:cNvSpPr>
            <a:spLocks noGrp="1"/>
          </p:cNvSpPr>
          <p:nvPr>
            <p:ph idx="1"/>
          </p:nvPr>
        </p:nvSpPr>
        <p:spPr>
          <a:xfrm>
            <a:off x="255639" y="794620"/>
            <a:ext cx="11729884" cy="5832322"/>
          </a:xfrm>
        </p:spPr>
        <p:txBody>
          <a:bodyPr>
            <a:noAutofit/>
          </a:bodyPr>
          <a:lstStyle/>
          <a:p>
            <a:pPr>
              <a:lnSpc>
                <a:spcPct val="100000"/>
              </a:lnSpc>
              <a:buNone/>
            </a:pPr>
            <a:r>
              <a:rPr lang="en-US" sz="2000" dirty="0" err="1">
                <a:latin typeface="Times New Roman" panose="02020603050405020304" pitchFamily="18" charset="0"/>
                <a:cs typeface="Times New Roman" panose="02020603050405020304" pitchFamily="18" charset="0"/>
              </a:rPr>
              <a:t>PreprocessPro</a:t>
            </a:r>
            <a:r>
              <a:rPr lang="en-US" sz="2000" dirty="0">
                <a:latin typeface="Times New Roman" panose="02020603050405020304" pitchFamily="18" charset="0"/>
                <a:cs typeface="Times New Roman" panose="02020603050405020304" pitchFamily="18" charset="0"/>
              </a:rPr>
              <a:t> should have the following features in order to handle preprocessing challenges:</a:t>
            </a:r>
          </a:p>
          <a:p>
            <a:pPr algn="just">
              <a:lnSpc>
                <a:spcPct val="10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Dataset Upload</a:t>
            </a:r>
            <a:r>
              <a:rPr lang="en-US" sz="2000" dirty="0">
                <a:latin typeface="Times New Roman" panose="02020603050405020304" pitchFamily="18" charset="0"/>
                <a:cs typeface="Times New Roman" panose="02020603050405020304" pitchFamily="18" charset="0"/>
              </a:rPr>
              <a:t>: Users can upload datasets in various formats (CSV, Excel, JSON).</a:t>
            </a:r>
          </a:p>
          <a:p>
            <a:pPr>
              <a:lnSpc>
                <a:spcPct val="10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Automated Preprocessing</a:t>
            </a:r>
            <a:r>
              <a:rPr lang="en-US" sz="2000" dirty="0">
                <a:latin typeface="Times New Roman" panose="02020603050405020304" pitchFamily="18" charset="0"/>
                <a:cs typeface="Times New Roman" panose="02020603050405020304" pitchFamily="18" charset="0"/>
              </a:rPr>
              <a:t>:</a:t>
            </a:r>
          </a:p>
          <a:p>
            <a:pPr marL="742950" lvl="1" indent="-285750" algn="just">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Handles missing values, detects and removes outliers and duplicates.</a:t>
            </a:r>
          </a:p>
          <a:p>
            <a:pPr marL="742950" lvl="1" indent="-285750">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Categorical</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encoding is also automated based on data type.</a:t>
            </a:r>
          </a:p>
          <a:p>
            <a:pPr>
              <a:lnSpc>
                <a:spcPct val="10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Customization Options</a:t>
            </a:r>
            <a:r>
              <a:rPr lang="en-US" sz="2000" dirty="0">
                <a:latin typeface="Times New Roman" panose="02020603050405020304" pitchFamily="18" charset="0"/>
                <a:cs typeface="Times New Roman" panose="02020603050405020304" pitchFamily="18" charset="0"/>
              </a:rPr>
              <a:t>:</a:t>
            </a:r>
          </a:p>
          <a:p>
            <a:pPr marL="742950" lvl="1" indent="-285750" algn="just">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select</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specific</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columns to include in preprocessing.</a:t>
            </a:r>
          </a:p>
          <a:p>
            <a:pPr marL="742950" lvl="1" indent="-285750" algn="just">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Option to mark</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categorical</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columns for encoding.</a:t>
            </a:r>
          </a:p>
          <a:p>
            <a:pPr algn="just">
              <a:lnSpc>
                <a:spcPct val="10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Encoding with Mapping File: </a:t>
            </a:r>
            <a:r>
              <a:rPr lang="en-US" sz="2000" dirty="0">
                <a:latin typeface="Times New Roman" panose="02020603050405020304" pitchFamily="18" charset="0"/>
                <a:cs typeface="Times New Roman" panose="02020603050405020304" pitchFamily="18" charset="0"/>
              </a:rPr>
              <a:t>Generates a</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separate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mapping</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file for categorical columns, which maps original labels to their encoded numeric values.</a:t>
            </a:r>
            <a:endParaRPr lang="en-US" sz="2000" b="1"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AI-Powered Learning</a:t>
            </a:r>
            <a:r>
              <a:rPr lang="en-US" sz="2000" dirty="0">
                <a:latin typeface="Times New Roman" panose="02020603050405020304" pitchFamily="18" charset="0"/>
                <a:cs typeface="Times New Roman" panose="02020603050405020304" pitchFamily="18" charset="0"/>
              </a:rPr>
              <a:t>: The system learns from past datasets to enhance preprocessing strategies over time.</a:t>
            </a:r>
          </a:p>
          <a:p>
            <a:pPr>
              <a:lnSpc>
                <a:spcPct val="10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Download Processed Data</a:t>
            </a:r>
            <a:r>
              <a:rPr lang="en-US" sz="2000" dirty="0">
                <a:latin typeface="Times New Roman" panose="02020603050405020304" pitchFamily="18" charset="0"/>
                <a:cs typeface="Times New Roman" panose="02020603050405020304" pitchFamily="18" charset="0"/>
              </a:rPr>
              <a:t>:</a:t>
            </a:r>
          </a:p>
          <a:p>
            <a:pPr lvl="1">
              <a:lnSpc>
                <a:spcPct val="100000"/>
              </a:lnSpc>
            </a:pPr>
            <a:r>
              <a:rPr lang="en-IN" sz="2000" dirty="0">
                <a:latin typeface="Times New Roman" panose="02020603050405020304" pitchFamily="18" charset="0"/>
                <a:cs typeface="Times New Roman" panose="02020603050405020304" pitchFamily="18" charset="0"/>
              </a:rPr>
              <a:t>Two output files provided:</a:t>
            </a:r>
          </a:p>
          <a:p>
            <a:pPr lvl="2">
              <a:lnSpc>
                <a:spcPct val="100000"/>
              </a:lnSpc>
            </a:pPr>
            <a:r>
              <a:rPr lang="en-US" dirty="0">
                <a:latin typeface="Times New Roman" panose="02020603050405020304" pitchFamily="18" charset="0"/>
                <a:cs typeface="Times New Roman" panose="02020603050405020304" pitchFamily="18" charset="0"/>
              </a:rPr>
              <a:t>Cleaned Dataset (in user-chosen format)</a:t>
            </a:r>
          </a:p>
          <a:p>
            <a:pPr lvl="2">
              <a:lnSpc>
                <a:spcPct val="100000"/>
              </a:lnSpc>
            </a:pPr>
            <a:r>
              <a:rPr lang="en-IN" dirty="0">
                <a:latin typeface="Times New Roman" panose="02020603050405020304" pitchFamily="18" charset="0"/>
                <a:cs typeface="Times New Roman" panose="02020603050405020304" pitchFamily="18" charset="0"/>
              </a:rPr>
              <a:t>Mapping File (for categorical encodings)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9594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4FE5-CBB4-F245-AD69-5B0069DA8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A7EB4-3FDC-7984-CF37-533C2D1039F8}"/>
              </a:ext>
            </a:extLst>
          </p:cNvPr>
          <p:cNvSpPr>
            <a:spLocks noGrp="1"/>
          </p:cNvSpPr>
          <p:nvPr>
            <p:ph type="title"/>
          </p:nvPr>
        </p:nvSpPr>
        <p:spPr>
          <a:xfrm>
            <a:off x="829146" y="0"/>
            <a:ext cx="10515600" cy="1004935"/>
          </a:xfrm>
        </p:spPr>
        <p:txBody>
          <a:bodyPr>
            <a:normAutofit/>
          </a:bodyPr>
          <a:lstStyle/>
          <a:p>
            <a:pPr algn="ctr"/>
            <a:r>
              <a:rPr lang="en-US" sz="3600" b="1" dirty="0">
                <a:latin typeface="Times New Roman" panose="02020603050405020304" pitchFamily="18" charset="0"/>
                <a:cs typeface="Times New Roman" panose="02020603050405020304" pitchFamily="18" charset="0"/>
              </a:rPr>
              <a:t>REQUIREMENT ANALYSIS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0F660A-4073-30E4-F4F1-19B9DFCFE385}"/>
              </a:ext>
            </a:extLst>
          </p:cNvPr>
          <p:cNvSpPr>
            <a:spLocks noGrp="1"/>
          </p:cNvSpPr>
          <p:nvPr>
            <p:ph idx="1"/>
          </p:nvPr>
        </p:nvSpPr>
        <p:spPr>
          <a:xfrm>
            <a:off x="747666" y="1077095"/>
            <a:ext cx="10515600" cy="5341811"/>
          </a:xfrm>
        </p:spPr>
        <p:txBody>
          <a:bodyPr>
            <a:noAutofit/>
          </a:bodyPr>
          <a:lstStyle/>
          <a:p>
            <a:r>
              <a:rPr lang="en-US" sz="2000" b="1" dirty="0">
                <a:latin typeface="Times New Roman" pitchFamily="18" charset="0"/>
                <a:cs typeface="Times New Roman" pitchFamily="18" charset="0"/>
              </a:rPr>
              <a:t>Dataset Input</a:t>
            </a:r>
            <a:r>
              <a:rPr lang="en-US" sz="2000" dirty="0">
                <a:latin typeface="Times New Roman" pitchFamily="18" charset="0"/>
                <a:cs typeface="Times New Roman" pitchFamily="18" charset="0"/>
              </a:rPr>
              <a:t>: Users must be able to input health metrics (e.g., age, cholesterol, blood pressure) via an intuitive form, processed as a dataset for prediction.</a:t>
            </a:r>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Advanced Prediction Models</a:t>
            </a:r>
            <a:r>
              <a:rPr lang="en-US" sz="2000" dirty="0">
                <a:latin typeface="Times New Roman" pitchFamily="18" charset="0"/>
                <a:cs typeface="Times New Roman" pitchFamily="18" charset="0"/>
              </a:rPr>
              <a:t>: The system must integrate an ensemble model (Random Forest, Neural Networks, Logistic Regression, SVM) with 90% accuracy, supported by </a:t>
            </a:r>
            <a:r>
              <a:rPr lang="en-US" sz="2000" dirty="0" err="1">
                <a:latin typeface="Times New Roman" pitchFamily="18" charset="0"/>
                <a:cs typeface="Times New Roman" pitchFamily="18" charset="0"/>
              </a:rPr>
              <a:t>Scikit</a:t>
            </a:r>
            <a:r>
              <a:rPr lang="en-US" sz="2000" dirty="0">
                <a:latin typeface="Times New Roman" pitchFamily="18" charset="0"/>
                <a:cs typeface="Times New Roman" pitchFamily="18" charset="0"/>
              </a:rPr>
              <a:t>-learn, to deliver reliable heart disease risk predictions.</a:t>
            </a:r>
          </a:p>
          <a:p>
            <a:r>
              <a:rPr lang="en-US" sz="2000" b="1" dirty="0">
                <a:latin typeface="Times New Roman" pitchFamily="18" charset="0"/>
                <a:cs typeface="Times New Roman" pitchFamily="18" charset="0"/>
              </a:rPr>
              <a:t>Explainable AI Integration</a:t>
            </a:r>
            <a:r>
              <a:rPr lang="en-US" sz="2000" dirty="0">
                <a:latin typeface="Times New Roman" pitchFamily="18" charset="0"/>
                <a:cs typeface="Times New Roman" pitchFamily="18" charset="0"/>
              </a:rPr>
              <a:t>: Requires SHAP (</a:t>
            </a:r>
            <a:r>
              <a:rPr lang="en-US" sz="2000" dirty="0" err="1">
                <a:latin typeface="Times New Roman" pitchFamily="18" charset="0"/>
                <a:cs typeface="Times New Roman" pitchFamily="18" charset="0"/>
              </a:rPr>
              <a:t>SHapley</a:t>
            </a:r>
            <a:r>
              <a:rPr lang="en-US" sz="2000" dirty="0">
                <a:latin typeface="Times New Roman" pitchFamily="18" charset="0"/>
                <a:cs typeface="Times New Roman" pitchFamily="18" charset="0"/>
              </a:rPr>
              <a:t> Additive </a:t>
            </a:r>
            <a:r>
              <a:rPr lang="en-US" sz="2000" dirty="0" err="1">
                <a:latin typeface="Times New Roman" pitchFamily="18" charset="0"/>
                <a:cs typeface="Times New Roman" pitchFamily="18" charset="0"/>
              </a:rPr>
              <a:t>exPlanations</a:t>
            </a:r>
            <a:r>
              <a:rPr lang="en-US" sz="2000" dirty="0">
                <a:latin typeface="Times New Roman" pitchFamily="18" charset="0"/>
                <a:cs typeface="Times New Roman" pitchFamily="18" charset="0"/>
              </a:rPr>
              <a:t>) to provide transparent, detailed explanations of predictions, enhancing user trust and clinical usability.</a:t>
            </a:r>
          </a:p>
          <a:p>
            <a:r>
              <a:rPr lang="en-US" sz="2000" b="1" dirty="0">
                <a:latin typeface="Times New Roman" pitchFamily="18" charset="0"/>
                <a:cs typeface="Times New Roman" pitchFamily="18" charset="0"/>
              </a:rPr>
              <a:t>Interactive Risk Simulation</a:t>
            </a:r>
            <a:r>
              <a:rPr lang="en-US" sz="2000" dirty="0">
                <a:latin typeface="Times New Roman" pitchFamily="18" charset="0"/>
                <a:cs typeface="Times New Roman" pitchFamily="18" charset="0"/>
              </a:rPr>
              <a:t>: Must include a real-time tool allowing users to adjust health metrics and visualize risk changes, promoting proactive health management.</a:t>
            </a:r>
          </a:p>
          <a:p>
            <a:r>
              <a:rPr lang="en-US" sz="2000" b="1" dirty="0">
                <a:latin typeface="Times New Roman" pitchFamily="18" charset="0"/>
                <a:cs typeface="Times New Roman" pitchFamily="18" charset="0"/>
              </a:rPr>
              <a:t>User-Friendly Interface</a:t>
            </a:r>
            <a:r>
              <a:rPr lang="en-US" sz="2000" dirty="0">
                <a:latin typeface="Times New Roman" pitchFamily="18" charset="0"/>
                <a:cs typeface="Times New Roman" pitchFamily="18" charset="0"/>
              </a:rPr>
              <a:t>: Needs a responsive, accessible UI built with React.js and Chakra UI, designed for ease of use by non-technical users.</a:t>
            </a:r>
          </a:p>
          <a:p>
            <a:r>
              <a:rPr lang="en-US" sz="2000" b="1" dirty="0">
                <a:latin typeface="Times New Roman" pitchFamily="18" charset="0"/>
                <a:cs typeface="Times New Roman" pitchFamily="18" charset="0"/>
              </a:rPr>
              <a:t>Automated Preprocessing</a:t>
            </a:r>
            <a:r>
              <a:rPr lang="en-US" sz="2000" dirty="0">
                <a:latin typeface="Times New Roman" pitchFamily="18" charset="0"/>
                <a:cs typeface="Times New Roman" pitchFamily="18" charset="0"/>
              </a:rPr>
              <a:t>: The system must automatically handle data cleaning (e.g., imputing missing values), encoding (e.g., one-hot), and scaling (e.g., Min-Max </a:t>
            </a:r>
            <a:r>
              <a:rPr lang="en-US" sz="2000" dirty="0" err="1">
                <a:latin typeface="Times New Roman" pitchFamily="18" charset="0"/>
                <a:cs typeface="Times New Roman" pitchFamily="18" charset="0"/>
              </a:rPr>
              <a:t>Scaler</a:t>
            </a:r>
            <a:r>
              <a:rPr lang="en-US" sz="2000" dirty="0">
                <a:latin typeface="Times New Roman" pitchFamily="18" charset="0"/>
                <a:cs typeface="Times New Roman" pitchFamily="18" charset="0"/>
              </a:rPr>
              <a:t>) for accurate predictions.</a:t>
            </a:r>
          </a:p>
          <a:p>
            <a:r>
              <a:rPr lang="en-US" sz="2000" b="1" dirty="0">
                <a:latin typeface="Times New Roman" pitchFamily="18" charset="0"/>
                <a:cs typeface="Times New Roman" pitchFamily="18" charset="0"/>
              </a:rPr>
              <a:t>User Authentication</a:t>
            </a:r>
            <a:r>
              <a:rPr lang="en-US" sz="2000" dirty="0">
                <a:latin typeface="Times New Roman" pitchFamily="18" charset="0"/>
                <a:cs typeface="Times New Roman" pitchFamily="18" charset="0"/>
              </a:rPr>
              <a:t>: Requires secure login and a personalized dashboard using Firebase, enabling risk history tracking and user-specific features.</a:t>
            </a:r>
          </a:p>
        </p:txBody>
      </p:sp>
    </p:spTree>
    <p:extLst>
      <p:ext uri="{BB962C8B-B14F-4D97-AF65-F5344CB8AC3E}">
        <p14:creationId xmlns:p14="http://schemas.microsoft.com/office/powerpoint/2010/main" val="2657179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4E67C-BCED-C505-40A8-2C29C51D5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22A99-53AB-72CA-8098-197DEF073723}"/>
              </a:ext>
            </a:extLst>
          </p:cNvPr>
          <p:cNvSpPr>
            <a:spLocks noGrp="1"/>
          </p:cNvSpPr>
          <p:nvPr>
            <p:ph type="title"/>
          </p:nvPr>
        </p:nvSpPr>
        <p:spPr>
          <a:xfrm>
            <a:off x="838200" y="35415"/>
            <a:ext cx="10515600" cy="1397145"/>
          </a:xfrm>
        </p:spPr>
        <p:txBody>
          <a:bodyPr>
            <a:normAutofit/>
          </a:bodyPr>
          <a:lstStyle/>
          <a:p>
            <a:pPr algn="ctr"/>
            <a:r>
              <a:rPr lang="en-US" sz="3600" b="1" dirty="0">
                <a:latin typeface="Times New Roman" panose="02020603050405020304" pitchFamily="18" charset="0"/>
                <a:cs typeface="Times New Roman" panose="02020603050405020304" pitchFamily="18" charset="0"/>
              </a:rPr>
              <a:t>ARCHITECTURE (PROPOSED WORK FLOW DIAGRAM)</a:t>
            </a:r>
            <a:endParaRPr lang="en-IN" sz="3600" b="1" dirty="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2"/>
          <a:srcRect/>
          <a:stretch>
            <a:fillRect/>
          </a:stretch>
        </p:blipFill>
        <p:spPr bwMode="auto">
          <a:xfrm>
            <a:off x="1539089" y="1312926"/>
            <a:ext cx="9089679" cy="5086350"/>
          </a:xfrm>
          <a:prstGeom prst="rect">
            <a:avLst/>
          </a:prstGeom>
          <a:noFill/>
          <a:ln w="9525">
            <a:noFill/>
            <a:miter lim="800000"/>
            <a:headEnd/>
            <a:tailEnd/>
          </a:ln>
          <a:effectLst/>
        </p:spPr>
      </p:pic>
    </p:spTree>
    <p:extLst>
      <p:ext uri="{BB962C8B-B14F-4D97-AF65-F5344CB8AC3E}">
        <p14:creationId xmlns:p14="http://schemas.microsoft.com/office/powerpoint/2010/main" val="541573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3556-47C3-FC76-15E7-C4BCB350CEB1}"/>
              </a:ext>
            </a:extLst>
          </p:cNvPr>
          <p:cNvSpPr>
            <a:spLocks noGrp="1"/>
          </p:cNvSpPr>
          <p:nvPr>
            <p:ph type="title"/>
          </p:nvPr>
        </p:nvSpPr>
        <p:spPr>
          <a:xfrm>
            <a:off x="720213" y="294868"/>
            <a:ext cx="10515600" cy="913069"/>
          </a:xfrm>
        </p:spPr>
        <p:txBody>
          <a:bodyPr>
            <a:normAutofit/>
          </a:bodyPr>
          <a:lstStyle/>
          <a:p>
            <a:pPr algn="ctr"/>
            <a:r>
              <a:rPr lang="en-IN" sz="3600" dirty="0">
                <a:latin typeface="Times New Roman" panose="02020603050405020304" pitchFamily="18" charset="0"/>
                <a:cs typeface="Times New Roman" panose="02020603050405020304" pitchFamily="18" charset="0"/>
              </a:rPr>
              <a:t>CODE</a:t>
            </a:r>
          </a:p>
        </p:txBody>
      </p:sp>
      <p:pic>
        <p:nvPicPr>
          <p:cNvPr id="5" name="Content Placeholder 4">
            <a:extLst>
              <a:ext uri="{FF2B5EF4-FFF2-40B4-BE49-F238E27FC236}">
                <a16:creationId xmlns:a16="http://schemas.microsoft.com/office/drawing/2014/main" id="{14EC1760-FB0D-1890-74F2-BFDB4F42C9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6554" y="1813770"/>
            <a:ext cx="4687965" cy="4292826"/>
          </a:xfrm>
        </p:spPr>
      </p:pic>
      <p:pic>
        <p:nvPicPr>
          <p:cNvPr id="7" name="Picture 6">
            <a:extLst>
              <a:ext uri="{FF2B5EF4-FFF2-40B4-BE49-F238E27FC236}">
                <a16:creationId xmlns:a16="http://schemas.microsoft.com/office/drawing/2014/main" id="{355863AD-6878-614C-856B-601D242F3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482" y="1633980"/>
            <a:ext cx="4687964" cy="4472616"/>
          </a:xfrm>
          <a:prstGeom prst="rect">
            <a:avLst/>
          </a:prstGeom>
        </p:spPr>
      </p:pic>
    </p:spTree>
    <p:extLst>
      <p:ext uri="{BB962C8B-B14F-4D97-AF65-F5344CB8AC3E}">
        <p14:creationId xmlns:p14="http://schemas.microsoft.com/office/powerpoint/2010/main" val="3604802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E65F-894B-3101-E4E2-BC5F2C10C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3891B-7679-31B2-0CD8-13785EA2266C}"/>
              </a:ext>
            </a:extLst>
          </p:cNvPr>
          <p:cNvSpPr>
            <a:spLocks noGrp="1"/>
          </p:cNvSpPr>
          <p:nvPr>
            <p:ph type="title"/>
          </p:nvPr>
        </p:nvSpPr>
        <p:spPr>
          <a:xfrm>
            <a:off x="838200" y="197975"/>
            <a:ext cx="105156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ALGORITHMS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97EBE8-0E15-8047-CA55-2A6C78E1DFB8}"/>
              </a:ext>
            </a:extLst>
          </p:cNvPr>
          <p:cNvSpPr>
            <a:spLocks noGrp="1"/>
          </p:cNvSpPr>
          <p:nvPr>
            <p:ph idx="1"/>
          </p:nvPr>
        </p:nvSpPr>
        <p:spPr>
          <a:xfrm>
            <a:off x="838200" y="1371600"/>
            <a:ext cx="10515600" cy="4765039"/>
          </a:xfrm>
        </p:spPr>
        <p:txBody>
          <a:bodyPr>
            <a:noAutofit/>
          </a:bodyPr>
          <a:lstStyle/>
          <a:p>
            <a:pPr marL="0" indent="0" algn="just">
              <a:lnSpc>
                <a:spcPct val="100000"/>
              </a:lnSpc>
              <a:buNone/>
            </a:pPr>
            <a:r>
              <a:rPr lang="en-US" sz="2200" b="1" dirty="0">
                <a:latin typeface="Times New Roman" panose="02020603050405020304" pitchFamily="18" charset="0"/>
                <a:cs typeface="Times New Roman" panose="02020603050405020304" pitchFamily="18" charset="0"/>
              </a:rPr>
              <a:t>1. Data Preprocessing Algorithms:</a:t>
            </a:r>
          </a:p>
          <a:p>
            <a:pPr marL="0" indent="0" algn="just">
              <a:lnSpc>
                <a:spcPct val="100000"/>
              </a:lnSpc>
              <a:buFont typeface="Wingdings"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Missing Value Imputation: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Uses mean or median imputation for numerical features (e.g., cholesterol, blood pressure) and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mode for categorical variables (e.g., chest pain type) to handle incomplete data.</a:t>
            </a:r>
          </a:p>
          <a:p>
            <a:pPr marL="0" indent="0" algn="just">
              <a:lnSpc>
                <a:spcPct val="100000"/>
              </a:lnSpc>
              <a:buFont typeface="Wingdings" pitchFamily="2" charset="2"/>
              <a:buChar char="Ø"/>
            </a:pPr>
            <a:r>
              <a:rPr lang="en-US" sz="2200" b="1" dirty="0">
                <a:latin typeface="Times New Roman" panose="02020603050405020304" pitchFamily="18" charset="0"/>
                <a:cs typeface="Times New Roman" panose="02020603050405020304" pitchFamily="18" charset="0"/>
              </a:rPr>
              <a:t>  Categorical Encoding:  </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Applies one-hot encoding for non-ordinal categorical variables (e.g., sex, chest pain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type) and label encoding for ordinal variables (e.g., slope of ST segment) to prepare data</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for modeling.</a:t>
            </a:r>
          </a:p>
          <a:p>
            <a:pPr marL="0" indent="0" algn="just">
              <a:lnSpc>
                <a:spcPct val="100000"/>
              </a:lnSpc>
              <a:buFont typeface="Wingdings" pitchFamily="2" charset="2"/>
              <a:buChar char="Ø"/>
            </a:pPr>
            <a:r>
              <a:rPr lang="en-US" sz="2200" b="1" dirty="0">
                <a:latin typeface="Times New Roman" panose="02020603050405020304" pitchFamily="18" charset="0"/>
                <a:cs typeface="Times New Roman" panose="02020603050405020304" pitchFamily="18" charset="0"/>
              </a:rPr>
              <a:t>  Feature Scaling:  </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Employs Min-Max </a:t>
            </a:r>
            <a:r>
              <a:rPr lang="en-US" sz="2200" dirty="0" err="1">
                <a:latin typeface="Times New Roman" panose="02020603050405020304" pitchFamily="18" charset="0"/>
                <a:cs typeface="Times New Roman" panose="02020603050405020304" pitchFamily="18" charset="0"/>
              </a:rPr>
              <a:t>Scaler</a:t>
            </a:r>
            <a:r>
              <a:rPr lang="en-US" sz="2200" dirty="0">
                <a:latin typeface="Times New Roman" panose="02020603050405020304" pitchFamily="18" charset="0"/>
                <a:cs typeface="Times New Roman" panose="02020603050405020304" pitchFamily="18" charset="0"/>
              </a:rPr>
              <a:t> to normalize numerical features (e.g., age, </a:t>
            </a:r>
            <a:r>
              <a:rPr lang="en-US" sz="2200" dirty="0" err="1">
                <a:latin typeface="Times New Roman" panose="02020603050405020304" pitchFamily="18" charset="0"/>
                <a:cs typeface="Times New Roman" panose="02020603050405020304" pitchFamily="18" charset="0"/>
              </a:rPr>
              <a:t>trestbps</a:t>
            </a:r>
            <a:r>
              <a:rPr lang="en-US" sz="2200" dirty="0">
                <a:latin typeface="Times New Roman" panose="02020603050405020304" pitchFamily="18" charset="0"/>
                <a:cs typeface="Times New Roman" panose="02020603050405020304" pitchFamily="18" charset="0"/>
              </a:rPr>
              <a:t>) to a 0-1</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range, and </a:t>
            </a:r>
            <a:r>
              <a:rPr lang="en-US" sz="2200" dirty="0" err="1">
                <a:latin typeface="Times New Roman" panose="02020603050405020304" pitchFamily="18" charset="0"/>
                <a:cs typeface="Times New Roman" panose="02020603050405020304" pitchFamily="18" charset="0"/>
              </a:rPr>
              <a:t>StandardScaler</a:t>
            </a:r>
            <a:r>
              <a:rPr lang="en-US" sz="2200" dirty="0">
                <a:latin typeface="Times New Roman" panose="02020603050405020304" pitchFamily="18" charset="0"/>
                <a:cs typeface="Times New Roman" panose="02020603050405020304" pitchFamily="18" charset="0"/>
              </a:rPr>
              <a:t> for z-score normalization, ensuring consistent input scales.</a:t>
            </a:r>
          </a:p>
          <a:p>
            <a:pPr marL="0" indent="0" algn="just">
              <a:lnSpc>
                <a:spcPct val="100000"/>
              </a:lnSpc>
              <a:buNone/>
            </a:pPr>
            <a:endParaRPr lang="en-US" sz="22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22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200" dirty="0">
                <a:latin typeface="Times New Roman" panose="02020603050405020304" pitchFamily="18" charset="0"/>
                <a:cs typeface="Times New Roman" panose="02020603050405020304" pitchFamily="18" charset="0"/>
              </a:rPr>
              <a:t>3. **</a:t>
            </a:r>
            <a:r>
              <a:rPr lang="en-US" sz="2200" dirty="0" err="1">
                <a:latin typeface="Times New Roman" panose="02020603050405020304" pitchFamily="18" charset="0"/>
                <a:cs typeface="Times New Roman" panose="02020603050405020304" pitchFamily="18" charset="0"/>
              </a:rPr>
              <a:t>Explainability</a:t>
            </a:r>
            <a:r>
              <a:rPr lang="en-US" sz="2200" dirty="0">
                <a:latin typeface="Times New Roman" panose="02020603050405020304" pitchFamily="18" charset="0"/>
                <a:cs typeface="Times New Roman" panose="02020603050405020304" pitchFamily="18" charset="0"/>
              </a:rPr>
              <a:t> Algorithm**:</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 **SHAP (</a:t>
            </a:r>
            <a:r>
              <a:rPr lang="en-US" sz="2200" dirty="0" err="1">
                <a:latin typeface="Times New Roman" panose="02020603050405020304" pitchFamily="18" charset="0"/>
                <a:cs typeface="Times New Roman" panose="02020603050405020304" pitchFamily="18" charset="0"/>
              </a:rPr>
              <a:t>SHapley</a:t>
            </a:r>
            <a:r>
              <a:rPr lang="en-US" sz="2200" dirty="0">
                <a:latin typeface="Times New Roman" panose="02020603050405020304" pitchFamily="18" charset="0"/>
                <a:cs typeface="Times New Roman" panose="02020603050405020304" pitchFamily="18" charset="0"/>
              </a:rPr>
              <a:t> Additive </a:t>
            </a:r>
            <a:r>
              <a:rPr lang="en-US" sz="2200" dirty="0" err="1">
                <a:latin typeface="Times New Roman" panose="02020603050405020304" pitchFamily="18" charset="0"/>
                <a:cs typeface="Times New Roman" panose="02020603050405020304" pitchFamily="18" charset="0"/>
              </a:rPr>
              <a:t>exPlanations</a:t>
            </a:r>
            <a:r>
              <a:rPr lang="en-US" sz="2200" dirty="0">
                <a:latin typeface="Times New Roman" panose="02020603050405020304" pitchFamily="18" charset="0"/>
                <a:cs typeface="Times New Roman" panose="02020603050405020304" pitchFamily="18" charset="0"/>
              </a:rPr>
              <a:t>)**:  </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 Calculates the contribution of each feature to the prediction, providing both global (overall importance) and local (individual prediction) explanations, enhancing model transparency.</a:t>
            </a:r>
          </a:p>
          <a:p>
            <a:pPr marL="0" indent="0" algn="just">
              <a:lnSpc>
                <a:spcPct val="100000"/>
              </a:lnSpc>
              <a:buNone/>
            </a:pPr>
            <a:endParaRPr lang="en-US" sz="22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200" dirty="0">
                <a:latin typeface="Times New Roman" panose="02020603050405020304" pitchFamily="18" charset="0"/>
                <a:cs typeface="Times New Roman" panose="02020603050405020304" pitchFamily="18" charset="0"/>
              </a:rPr>
              <a:t>4. **Feature Selection and Importance**:</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 **Feature Importance from Random Forest**:  </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 Identifies key predictors (e.g., cholesterol, max heart rate) based on tree-based importance scores.</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 **SHAP Value Analysis**:  </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     - Ranks features by their impact on predictions, supporting visualization and user understanding.</a:t>
            </a:r>
          </a:p>
        </p:txBody>
      </p:sp>
    </p:spTree>
    <p:extLst>
      <p:ext uri="{BB962C8B-B14F-4D97-AF65-F5344CB8AC3E}">
        <p14:creationId xmlns:p14="http://schemas.microsoft.com/office/powerpoint/2010/main" val="3847903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E65F-894B-3101-E4E2-BC5F2C10C0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7EBE8-0E15-8047-CA55-2A6C78E1DFB8}"/>
              </a:ext>
            </a:extLst>
          </p:cNvPr>
          <p:cNvSpPr>
            <a:spLocks noGrp="1"/>
          </p:cNvSpPr>
          <p:nvPr>
            <p:ph idx="1"/>
          </p:nvPr>
        </p:nvSpPr>
        <p:spPr>
          <a:xfrm>
            <a:off x="173256" y="115504"/>
            <a:ext cx="12018744" cy="6742496"/>
          </a:xfrm>
        </p:spPr>
        <p:txBody>
          <a:bodyPr>
            <a:noAutofit/>
          </a:bodyPr>
          <a:lstStyle/>
          <a:p>
            <a:pPr marL="0" indent="0" algn="just">
              <a:lnSpc>
                <a:spcPct val="100000"/>
              </a:lnSpc>
              <a:buNone/>
            </a:pPr>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Prediction Algorithms</a:t>
            </a:r>
          </a:p>
          <a:p>
            <a:pPr marL="0" indent="0" algn="just">
              <a:lnSpc>
                <a:spcPct val="10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 Random Forest: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An ensemble of decision trees using bagging, offering 88% accuracy, robust to</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overfitting</a:t>
            </a:r>
            <a:r>
              <a:rPr lang="en-US" sz="2000" dirty="0">
                <a:latin typeface="Times New Roman" panose="02020603050405020304" pitchFamily="18" charset="0"/>
                <a:cs typeface="Times New Roman" panose="02020603050405020304" pitchFamily="18" charset="0"/>
              </a:rPr>
              <a:t>, and providing feature importance for interpretability.</a:t>
            </a:r>
          </a:p>
          <a:p>
            <a:pPr marL="0" indent="0" algn="just">
              <a:lnSpc>
                <a:spcPct val="10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 Neural Network: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Implemented via </a:t>
            </a:r>
            <a:r>
              <a:rPr lang="en-US" sz="2000" dirty="0" err="1">
                <a:latin typeface="Times New Roman" panose="02020603050405020304" pitchFamily="18" charset="0"/>
                <a:cs typeface="Times New Roman" panose="02020603050405020304" pitchFamily="18" charset="0"/>
              </a:rPr>
              <a:t>Scikit-learn’s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MLPClassifier</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TensorFlow</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Keras</a:t>
            </a:r>
            <a:r>
              <a:rPr lang="en-US" sz="2000" dirty="0">
                <a:latin typeface="Times New Roman" panose="02020603050405020304" pitchFamily="18" charset="0"/>
                <a:cs typeface="Times New Roman" panose="02020603050405020304" pitchFamily="18" charset="0"/>
              </a:rPr>
              <a:t>, capturing complex patterns with</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85% accuracy, using multi-layer </a:t>
            </a:r>
            <a:r>
              <a:rPr lang="en-US" sz="2000" dirty="0" err="1">
                <a:latin typeface="Times New Roman" panose="02020603050405020304" pitchFamily="18" charset="0"/>
                <a:cs typeface="Times New Roman" panose="02020603050405020304" pitchFamily="18" charset="0"/>
              </a:rPr>
              <a:t>perceptrons</a:t>
            </a:r>
            <a:r>
              <a:rPr lang="en-US" sz="2000" dirty="0">
                <a:latin typeface="Times New Roman" panose="02020603050405020304" pitchFamily="18" charset="0"/>
                <a:cs typeface="Times New Roman" panose="02020603050405020304" pitchFamily="18" charset="0"/>
              </a:rPr>
              <a:t> with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activation.</a:t>
            </a:r>
          </a:p>
          <a:p>
            <a:pPr marL="0" indent="0" algn="just">
              <a:lnSpc>
                <a:spcPct val="10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 Logistic Regression: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A baseline linear model with 83% accuracy, providing interpretable coefficients and probability</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estimates for risk assessment.</a:t>
            </a:r>
          </a:p>
          <a:p>
            <a:pPr marL="0" indent="0" algn="just">
              <a:lnSpc>
                <a:spcPct val="10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 Support Vector Machine (SVM):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 Uses a radial basis function (RBF) kernel for non-linear classification, achieving 82% accuracy, effective in high-dimensional spaces.</a:t>
            </a:r>
          </a:p>
          <a:p>
            <a:pPr marL="0" indent="0" algn="just">
              <a:lnSpc>
                <a:spcPct val="100000"/>
              </a:lnSpc>
              <a:buFont typeface="Wingdings" pitchFamily="2" charset="2"/>
              <a:buChar char="Ø"/>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Ensemble Model: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 Combines predictions from Random Forest, Neural Network, Logistic Regression, and SVM via weighted voting, achieving the highest accuracy of 90% and an AUC of 0.94.</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7903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9F22E-8C54-0BA9-7842-04FBD4FB3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64E8D-0E43-0C1C-1C56-4552A6F75935}"/>
              </a:ext>
            </a:extLst>
          </p:cNvPr>
          <p:cNvSpPr>
            <a:spLocks noGrp="1"/>
          </p:cNvSpPr>
          <p:nvPr>
            <p:ph type="title"/>
          </p:nvPr>
        </p:nvSpPr>
        <p:spPr>
          <a:xfrm>
            <a:off x="799699" y="0"/>
            <a:ext cx="10515600" cy="985932"/>
          </a:xfrm>
        </p:spPr>
        <p:txBody>
          <a:bodyPr>
            <a:normAutofit/>
          </a:bodyPr>
          <a:lstStyle/>
          <a:p>
            <a:pPr algn="ctr"/>
            <a:r>
              <a:rPr lang="en-US" sz="3600" b="1" dirty="0">
                <a:latin typeface="Times New Roman" panose="02020603050405020304" pitchFamily="18" charset="0"/>
                <a:cs typeface="Times New Roman" panose="02020603050405020304" pitchFamily="18" charset="0"/>
              </a:rPr>
              <a:t> DATA SETS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BC0BA0-B0C3-8425-BE2A-368064103178}"/>
              </a:ext>
            </a:extLst>
          </p:cNvPr>
          <p:cNvSpPr>
            <a:spLocks noGrp="1"/>
          </p:cNvSpPr>
          <p:nvPr>
            <p:ph idx="1"/>
          </p:nvPr>
        </p:nvSpPr>
        <p:spPr>
          <a:xfrm>
            <a:off x="838200" y="808522"/>
            <a:ext cx="10515600" cy="6049478"/>
          </a:xfrm>
        </p:spPr>
        <p:txBody>
          <a:bodyPr>
            <a:noAutofit/>
          </a:bodyPr>
          <a:lstStyle/>
          <a:p>
            <a:pPr marL="0" indent="0">
              <a:lnSpc>
                <a:spcPct val="100000"/>
              </a:lnSpc>
              <a:buNone/>
            </a:pPr>
            <a:r>
              <a:rPr lang="en-US" sz="2200" dirty="0">
                <a:latin typeface="Times New Roman" panose="02020603050405020304" pitchFamily="18" charset="0"/>
                <a:cs typeface="Times New Roman" panose="02020603050405020304" pitchFamily="18" charset="0"/>
              </a:rPr>
              <a:t>The "Heart Disease Dataset" from </a:t>
            </a:r>
            <a:r>
              <a:rPr lang="en-US" sz="2200" dirty="0" err="1">
                <a:latin typeface="Times New Roman" panose="02020603050405020304" pitchFamily="18" charset="0"/>
                <a:cs typeface="Times New Roman" panose="02020603050405020304" pitchFamily="18" charset="0"/>
              </a:rPr>
              <a:t>Kaggle</a:t>
            </a:r>
            <a:r>
              <a:rPr lang="en-US" sz="2200" dirty="0">
                <a:latin typeface="Times New Roman" panose="02020603050405020304" pitchFamily="18" charset="0"/>
                <a:cs typeface="Times New Roman" panose="02020603050405020304" pitchFamily="18" charset="0"/>
              </a:rPr>
              <a:t>, contributed by johnsmith88 </a:t>
            </a:r>
            <a:r>
              <a:rPr lang="en-US" sz="2200" dirty="0">
                <a:latin typeface="Times New Roman" panose="02020603050405020304" pitchFamily="18" charset="0"/>
                <a:cs typeface="Times New Roman" panose="02020603050405020304" pitchFamily="18" charset="0"/>
                <a:hlinkClick r:id="rId3"/>
              </a:rPr>
              <a:t>(https://www.kaggle.com/datasets/johnsmith88/heart-disease-dataset)</a:t>
            </a:r>
            <a:r>
              <a:rPr lang="en-US" sz="2200" dirty="0">
                <a:latin typeface="Times New Roman" panose="02020603050405020304" pitchFamily="18" charset="0"/>
                <a:cs typeface="Times New Roman" panose="02020603050405020304" pitchFamily="18" charset="0"/>
              </a:rPr>
              <a:t> ,is a publicly available resource likely based on the UCI Heart Disease dataset, offering 300-400 instances ,</a:t>
            </a:r>
            <a:r>
              <a:rPr lang="en-IN" sz="2400" dirty="0">
                <a:latin typeface="Times New Roman" pitchFamily="18" charset="0"/>
                <a:cs typeface="Times New Roman" pitchFamily="18" charset="0"/>
              </a:rPr>
              <a:t>which includes the following features:</a:t>
            </a:r>
          </a:p>
          <a:p>
            <a:pPr marL="0" indent="0">
              <a:buFont typeface="Wingdings" pitchFamily="2" charset="2"/>
              <a:buChar char="Ø"/>
            </a:pPr>
            <a:r>
              <a:rPr lang="en-IN" sz="2400" dirty="0">
                <a:latin typeface="Times New Roman" pitchFamily="18" charset="0"/>
                <a:cs typeface="Times New Roman" pitchFamily="18" charset="0"/>
              </a:rPr>
              <a:t> age: Age in years</a:t>
            </a:r>
          </a:p>
          <a:p>
            <a:pPr marL="0" indent="0">
              <a:buFont typeface="Wingdings" pitchFamily="2" charset="2"/>
              <a:buChar char="Ø"/>
            </a:pPr>
            <a:r>
              <a:rPr lang="en-IN" sz="2400" dirty="0">
                <a:latin typeface="Times New Roman" pitchFamily="18" charset="0"/>
                <a:cs typeface="Times New Roman" pitchFamily="18" charset="0"/>
              </a:rPr>
              <a:t> sex: Sex (1 = male, 0 = female)</a:t>
            </a:r>
          </a:p>
          <a:p>
            <a:pPr marL="0" indent="0">
              <a:buFont typeface="Wingdings" pitchFamily="2" charset="2"/>
              <a:buChar char="Ø"/>
            </a:pPr>
            <a:r>
              <a:rPr lang="en-IN" sz="2400" dirty="0">
                <a:latin typeface="Times New Roman" pitchFamily="18" charset="0"/>
                <a:cs typeface="Times New Roman" pitchFamily="18" charset="0"/>
              </a:rPr>
              <a:t> cp: Chest pain type (0-3)</a:t>
            </a:r>
          </a:p>
          <a:p>
            <a:pPr marL="0" indent="0">
              <a:buFont typeface="Wingdings" pitchFamily="2" charset="2"/>
              <a:buChar char="Ø"/>
            </a:pPr>
            <a:r>
              <a:rPr lang="en-IN" sz="2400" dirty="0">
                <a:latin typeface="Times New Roman" pitchFamily="18" charset="0"/>
                <a:cs typeface="Times New Roman" pitchFamily="18" charset="0"/>
              </a:rPr>
              <a:t> 0: Typical angina</a:t>
            </a:r>
          </a:p>
          <a:p>
            <a:pPr marL="0" indent="0">
              <a:buFont typeface="Wingdings" pitchFamily="2" charset="2"/>
              <a:buChar char="Ø"/>
            </a:pPr>
            <a:r>
              <a:rPr lang="en-IN" sz="2400" dirty="0">
                <a:latin typeface="Times New Roman" pitchFamily="18" charset="0"/>
                <a:cs typeface="Times New Roman" pitchFamily="18" charset="0"/>
              </a:rPr>
              <a:t> 1: Atypical angina</a:t>
            </a:r>
          </a:p>
          <a:p>
            <a:pPr marL="0" indent="0">
              <a:buFont typeface="Wingdings" pitchFamily="2" charset="2"/>
              <a:buChar char="Ø"/>
            </a:pPr>
            <a:r>
              <a:rPr lang="en-IN" sz="2400" dirty="0">
                <a:latin typeface="Times New Roman" pitchFamily="18" charset="0"/>
                <a:cs typeface="Times New Roman" pitchFamily="18" charset="0"/>
              </a:rPr>
              <a:t> 2: Non-</a:t>
            </a:r>
            <a:r>
              <a:rPr lang="en-IN" sz="2400" dirty="0" err="1">
                <a:latin typeface="Times New Roman" pitchFamily="18" charset="0"/>
                <a:cs typeface="Times New Roman" pitchFamily="18" charset="0"/>
              </a:rPr>
              <a:t>anginal</a:t>
            </a:r>
            <a:r>
              <a:rPr lang="en-IN" sz="2400" dirty="0">
                <a:latin typeface="Times New Roman" pitchFamily="18" charset="0"/>
                <a:cs typeface="Times New Roman" pitchFamily="18" charset="0"/>
              </a:rPr>
              <a:t> pain</a:t>
            </a:r>
          </a:p>
          <a:p>
            <a:pPr marL="0" indent="0">
              <a:buFont typeface="Wingdings" pitchFamily="2" charset="2"/>
              <a:buChar char="Ø"/>
            </a:pPr>
            <a:r>
              <a:rPr lang="en-IN" sz="2400" dirty="0">
                <a:latin typeface="Times New Roman" pitchFamily="18" charset="0"/>
                <a:cs typeface="Times New Roman" pitchFamily="18" charset="0"/>
              </a:rPr>
              <a:t> 3: Asymptomatic</a:t>
            </a:r>
          </a:p>
          <a:p>
            <a:pPr marL="0" indent="0">
              <a:buFont typeface="Wingdings" pitchFamily="2" charset="2"/>
              <a:buChar char="Ø"/>
            </a:pP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trestbps</a:t>
            </a:r>
            <a:r>
              <a:rPr lang="en-IN" sz="2400" dirty="0">
                <a:latin typeface="Times New Roman" pitchFamily="18" charset="0"/>
                <a:cs typeface="Times New Roman" pitchFamily="18" charset="0"/>
              </a:rPr>
              <a:t>: Resting blood pressure in mm Hg</a:t>
            </a:r>
          </a:p>
          <a:p>
            <a:pPr marL="0" indent="0">
              <a:buFont typeface="Wingdings" pitchFamily="2" charset="2"/>
              <a:buChar char="Ø"/>
            </a:pP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chol</a:t>
            </a:r>
            <a:r>
              <a:rPr lang="en-IN" sz="2400" dirty="0">
                <a:latin typeface="Times New Roman" pitchFamily="18" charset="0"/>
                <a:cs typeface="Times New Roman" pitchFamily="18" charset="0"/>
              </a:rPr>
              <a:t>: Serum cholesterol in mg/dl</a:t>
            </a:r>
          </a:p>
          <a:p>
            <a:pPr marL="0" indent="0">
              <a:buFont typeface="Wingdings" pitchFamily="2" charset="2"/>
              <a:buChar char="Ø"/>
            </a:pP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fbs</a:t>
            </a:r>
            <a:r>
              <a:rPr lang="en-IN" sz="2400" dirty="0">
                <a:latin typeface="Times New Roman" pitchFamily="18" charset="0"/>
                <a:cs typeface="Times New Roman" pitchFamily="18" charset="0"/>
              </a:rPr>
              <a:t>: Fasting blood sugar &gt; 120 mg/dl (1 = true, 0 = false)</a:t>
            </a:r>
          </a:p>
          <a:p>
            <a:pPr marL="0" indent="0">
              <a:buNone/>
            </a:pPr>
            <a:endParaRPr lang="en-IN" sz="2400" dirty="0">
              <a:latin typeface="Times New Roman" pitchFamily="18" charset="0"/>
              <a:cs typeface="Times New Roman" pitchFamily="18" charset="0"/>
            </a:endParaRPr>
          </a:p>
          <a:p>
            <a:pPr marL="0" indent="0" algn="just">
              <a:lnSpc>
                <a:spcPct val="100000"/>
              </a:lnSpc>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3696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61CB5-8543-CC5B-980F-5758752C2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5BD31-DABC-2282-BEE2-2CF62F69403C}"/>
              </a:ext>
            </a:extLst>
          </p:cNvPr>
          <p:cNvSpPr>
            <a:spLocks noGrp="1"/>
          </p:cNvSpPr>
          <p:nvPr>
            <p:ph type="title"/>
          </p:nvPr>
        </p:nvSpPr>
        <p:spPr>
          <a:xfrm>
            <a:off x="838200" y="-98323"/>
            <a:ext cx="10515600" cy="973393"/>
          </a:xfrm>
        </p:spPr>
        <p:txBody>
          <a:bodyPr>
            <a:normAutofit/>
          </a:bodyPr>
          <a:lstStyle/>
          <a:p>
            <a:pPr algn="ctr"/>
            <a:r>
              <a:rPr lang="en-US" sz="3600" b="1" dirty="0">
                <a:latin typeface="Times New Roman" panose="02020603050405020304" pitchFamily="18" charset="0"/>
                <a:cs typeface="Times New Roman" panose="02020603050405020304" pitchFamily="18" charset="0"/>
              </a:rPr>
              <a:t> REFERENCES</a:t>
            </a:r>
            <a:endParaRPr lang="en-IN" sz="3600" b="1" dirty="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902DEC48-C7C4-C9E8-1148-A5AA7A0785C7}"/>
              </a:ext>
            </a:extLst>
          </p:cNvPr>
          <p:cNvSpPr>
            <a:spLocks noGrp="1" noChangeArrowheads="1"/>
          </p:cNvSpPr>
          <p:nvPr>
            <p:ph idx="1"/>
          </p:nvPr>
        </p:nvSpPr>
        <p:spPr bwMode="auto">
          <a:xfrm>
            <a:off x="668594" y="965089"/>
            <a:ext cx="11243185" cy="5714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Font typeface="Wingdings" pitchFamily="2" charset="2"/>
              <a:buChar char="Ø"/>
            </a:pPr>
            <a:r>
              <a:rPr lang="en-US" sz="2000" b="1" dirty="0">
                <a:latin typeface="Times New Roman" pitchFamily="18" charset="0"/>
                <a:cs typeface="Times New Roman" pitchFamily="18" charset="0"/>
              </a:rPr>
              <a:t> An Enhanced Probabilistic Elastic Net Regression Model (EPERM) for Heart Disease Prediction</a:t>
            </a:r>
          </a:p>
          <a:p>
            <a:pPr marL="0" indent="0" algn="just" eaLnBrk="0" fontAlgn="base" hangingPunct="0">
              <a:lnSpc>
                <a:spcPct val="150000"/>
              </a:lnSpc>
              <a:spcBef>
                <a:spcPct val="0"/>
              </a:spcBef>
              <a:spcAft>
                <a:spcPct val="0"/>
              </a:spcAft>
              <a:buNone/>
            </a:pPr>
            <a:r>
              <a:rPr lang="en-US" sz="2000" dirty="0">
                <a:latin typeface="Times New Roman" pitchFamily="18" charset="0"/>
                <a:cs typeface="Times New Roman" pitchFamily="18" charset="0"/>
              </a:rPr>
              <a:t>    Link:- </a:t>
            </a:r>
            <a:r>
              <a:rPr lang="en-US" sz="2000" dirty="0">
                <a:latin typeface="Times New Roman" pitchFamily="18" charset="0"/>
                <a:cs typeface="Times New Roman" pitchFamily="18" charset="0"/>
                <a:hlinkClick r:id="rId2"/>
              </a:rPr>
              <a:t>https://ieeexplore.ieee.org/document/10691373</a:t>
            </a:r>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Comparing Machine Learning Models for Heart Disease Prediction</a:t>
            </a:r>
          </a:p>
          <a:p>
            <a:pPr>
              <a:buNone/>
            </a:pPr>
            <a:r>
              <a:rPr lang="en-US" sz="2000" dirty="0">
                <a:latin typeface="Times New Roman" pitchFamily="18" charset="0"/>
                <a:cs typeface="Times New Roman" pitchFamily="18" charset="0"/>
              </a:rPr>
              <a:t>    Link :-  </a:t>
            </a:r>
            <a:r>
              <a:rPr lang="en-US" sz="2000" dirty="0">
                <a:latin typeface="Times New Roman" pitchFamily="18" charset="0"/>
                <a:cs typeface="Times New Roman" pitchFamily="18" charset="0"/>
                <a:hlinkClick r:id="rId3"/>
              </a:rPr>
              <a:t>https://ieeexplore.ieee.org/document/9936861</a:t>
            </a:r>
            <a:endParaRPr lang="en-US" sz="2000" dirty="0">
              <a:latin typeface="Times New Roman" pitchFamily="18" charset="0"/>
              <a:cs typeface="Times New Roman" pitchFamily="18" charset="0"/>
            </a:endParaRPr>
          </a:p>
          <a:p>
            <a:pPr>
              <a:lnSpc>
                <a:spcPct val="150000"/>
              </a:lnSpc>
              <a:buFont typeface="Wingdings" pitchFamily="2" charset="2"/>
              <a:buChar char="Ø"/>
            </a:pPr>
            <a:r>
              <a:rPr lang="en-US" sz="2000" b="1" dirty="0">
                <a:latin typeface="Times New Roman" pitchFamily="18" charset="0"/>
                <a:cs typeface="Times New Roman" pitchFamily="18" charset="0"/>
              </a:rPr>
              <a:t> FO-RS-3TM: A High-Performance Ensemble Model for Heart Disease Prediction with Feature</a:t>
            </a:r>
            <a:br>
              <a:rPr lang="en-US" sz="2000" b="1" dirty="0">
                <a:latin typeface="Times New Roman" pitchFamily="18" charset="0"/>
                <a:cs typeface="Times New Roman" pitchFamily="18" charset="0"/>
              </a:rPr>
            </a:br>
            <a:r>
              <a:rPr lang="en-US" sz="2000" b="1" dirty="0">
                <a:latin typeface="Times New Roman" pitchFamily="18" charset="0"/>
                <a:cs typeface="Times New Roman" pitchFamily="18" charset="0"/>
              </a:rPr>
              <a:t> Selection and </a:t>
            </a:r>
            <a:r>
              <a:rPr lang="en-US" sz="2000" b="1" dirty="0" err="1">
                <a:latin typeface="Times New Roman" pitchFamily="18" charset="0"/>
                <a:cs typeface="Times New Roman" pitchFamily="18" charset="0"/>
              </a:rPr>
              <a:t>Hyperparameter</a:t>
            </a:r>
            <a:r>
              <a:rPr lang="en-US" sz="2000" b="1" dirty="0">
                <a:latin typeface="Times New Roman" pitchFamily="18" charset="0"/>
                <a:cs typeface="Times New Roman" pitchFamily="18" charset="0"/>
              </a:rPr>
              <a:t> Tuning</a:t>
            </a:r>
          </a:p>
          <a:p>
            <a:pPr>
              <a:buNone/>
            </a:pP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Link:-  </a:t>
            </a:r>
            <a:r>
              <a:rPr lang="en-US" sz="2000" dirty="0">
                <a:latin typeface="Times New Roman" pitchFamily="18" charset="0"/>
                <a:cs typeface="Times New Roman" pitchFamily="18" charset="0"/>
                <a:hlinkClick r:id="rId4"/>
              </a:rPr>
              <a:t>https://ieeexplore.ieee.org/document/10677689</a:t>
            </a:r>
            <a:endParaRPr lang="en-US" sz="2000" dirty="0">
              <a:latin typeface="Times New Roman" pitchFamily="18" charset="0"/>
              <a:cs typeface="Times New Roman" pitchFamily="18" charset="0"/>
            </a:endParaRPr>
          </a:p>
          <a:p>
            <a:pPr>
              <a:buFont typeface="Wingdings" pitchFamily="2" charset="2"/>
              <a:buChar char="Ø"/>
            </a:pPr>
            <a:r>
              <a:rPr lang="en-US" sz="2000" b="1" dirty="0">
                <a:latin typeface="Times New Roman" pitchFamily="18" charset="0"/>
                <a:cs typeface="Times New Roman" pitchFamily="18" charset="0"/>
              </a:rPr>
              <a:t>Enhancing Stacking Model Fusion for Heart Disease Prediction</a:t>
            </a:r>
          </a:p>
          <a:p>
            <a:pPr>
              <a:buNone/>
            </a:pP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Link:- </a:t>
            </a:r>
            <a:r>
              <a:rPr lang="en-US" sz="2000" dirty="0">
                <a:latin typeface="Times New Roman" pitchFamily="18" charset="0"/>
                <a:cs typeface="Times New Roman" pitchFamily="18" charset="0"/>
                <a:hlinkClick r:id="rId5"/>
              </a:rPr>
              <a:t>https://ieeexplore.ieee.org/document/10919829</a:t>
            </a:r>
            <a:endParaRPr lang="en-US" sz="2000" dirty="0">
              <a:latin typeface="Times New Roman" pitchFamily="18" charset="0"/>
              <a:cs typeface="Times New Roman" pitchFamily="18" charset="0"/>
            </a:endParaRPr>
          </a:p>
          <a:p>
            <a:pPr>
              <a:buFont typeface="Wingdings" pitchFamily="2" charset="2"/>
              <a:buChar char="Ø"/>
            </a:pPr>
            <a:r>
              <a:rPr lang="en-US" sz="2000" b="1" dirty="0">
                <a:latin typeface="Times New Roman" pitchFamily="18" charset="0"/>
                <a:cs typeface="Times New Roman" pitchFamily="18" charset="0"/>
              </a:rPr>
              <a:t>Optimized Machine Learning Models for Heart Disease Prediction: A Performance Analysis</a:t>
            </a:r>
          </a:p>
          <a:p>
            <a:pPr>
              <a:buNone/>
            </a:pP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Link:-  </a:t>
            </a:r>
            <a:r>
              <a:rPr lang="en-US" sz="2000" dirty="0">
                <a:latin typeface="Times New Roman" pitchFamily="18" charset="0"/>
                <a:cs typeface="Times New Roman" pitchFamily="18" charset="0"/>
                <a:hlinkClick r:id="rId6"/>
              </a:rPr>
              <a:t>https://ieeexplore.ieee.org/document/10762500</a:t>
            </a:r>
            <a:endParaRPr lang="en-US" sz="2000" dirty="0">
              <a:latin typeface="Times New Roman" pitchFamily="18" charset="0"/>
              <a:cs typeface="Times New Roman" pitchFamily="18" charset="0"/>
            </a:endParaRPr>
          </a:p>
          <a:p>
            <a:pPr>
              <a:buFont typeface="Wingdings" pitchFamily="2" charset="2"/>
              <a:buChar char="Ø"/>
            </a:pPr>
            <a:r>
              <a:rPr lang="en-US" sz="2000" b="1" dirty="0">
                <a:latin typeface="Times New Roman" pitchFamily="18" charset="0"/>
                <a:cs typeface="Times New Roman" pitchFamily="18" charset="0"/>
              </a:rPr>
              <a:t>Coronary Heart Disease Prediction Using CNN, RNN, LSTM and Attention DNN Model</a:t>
            </a:r>
          </a:p>
          <a:p>
            <a:pPr>
              <a:buNone/>
            </a:pPr>
            <a:r>
              <a:rPr lang="en-US" sz="2000" dirty="0">
                <a:latin typeface="Times New Roman" pitchFamily="18" charset="0"/>
                <a:cs typeface="Times New Roman" pitchFamily="18" charset="0"/>
              </a:rPr>
              <a:t>    Link:-  </a:t>
            </a:r>
            <a:r>
              <a:rPr lang="en-US" sz="2000" dirty="0">
                <a:latin typeface="Times New Roman" pitchFamily="18" charset="0"/>
                <a:cs typeface="Times New Roman" pitchFamily="18" charset="0"/>
                <a:hlinkClick r:id="rId7"/>
              </a:rPr>
              <a:t>https://ieeexplore.ieee.org/document/10928111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398629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6031A3-BE0E-E19F-F664-63AFE2B3A524}"/>
              </a:ext>
            </a:extLst>
          </p:cNvPr>
          <p:cNvSpPr>
            <a:spLocks noGrp="1"/>
          </p:cNvSpPr>
          <p:nvPr>
            <p:ph idx="1"/>
          </p:nvPr>
        </p:nvSpPr>
        <p:spPr>
          <a:xfrm>
            <a:off x="3820716" y="2506662"/>
            <a:ext cx="10515600" cy="4351338"/>
          </a:xfrm>
        </p:spPr>
        <p:txBody>
          <a:bodyPr>
            <a:normAutofit/>
          </a:bodyPr>
          <a:lstStyle/>
          <a:p>
            <a:pPr marL="0" indent="0">
              <a:buNone/>
            </a:pPr>
            <a:r>
              <a:rPr lang="en-IN" sz="6000" b="1" dirty="0">
                <a:latin typeface="Times New Roman" panose="02020603050405020304" pitchFamily="18" charset="0"/>
                <a:cs typeface="Times New Roman" panose="02020603050405020304" pitchFamily="18" charset="0"/>
              </a:rPr>
              <a:t>THANK YOU </a:t>
            </a:r>
            <a:endParaRPr lang="en-US" sz="6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7502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1016</TotalTime>
  <Words>2760</Words>
  <Application>Microsoft Office PowerPoint</Application>
  <PresentationFormat>Widescreen</PresentationFormat>
  <Paragraphs>179</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Times New Roman</vt:lpstr>
      <vt:lpstr>Wingdings</vt:lpstr>
      <vt:lpstr>Office Theme</vt:lpstr>
      <vt:lpstr>  </vt:lpstr>
      <vt:lpstr>PowerPoint Presentation</vt:lpstr>
      <vt:lpstr>INTRODUCTION</vt:lpstr>
      <vt:lpstr>ABSTRACT</vt:lpstr>
      <vt:lpstr>LITERATURE SURVEY</vt:lpstr>
      <vt:lpstr>EXISTING SYSTEM</vt:lpstr>
      <vt:lpstr>CHALLENGES IN CURRENT SYSTEMS</vt:lpstr>
      <vt:lpstr>PROBLEM STATEMENT</vt:lpstr>
      <vt:lpstr>PROPOSED SYSTEM</vt:lpstr>
      <vt:lpstr>PROPOSED SYSTEM</vt:lpstr>
      <vt:lpstr>REQUIREMENT ANALYSIS</vt:lpstr>
      <vt:lpstr>REQUIREMENT ANALYSIS</vt:lpstr>
      <vt:lpstr>ARCHITECTURE (PROPOSED WORK FLOW DIAGRAM)</vt:lpstr>
      <vt:lpstr>CODE</vt:lpstr>
      <vt:lpstr>ALGORITHMS</vt:lpstr>
      <vt:lpstr>PowerPoint Presentation</vt:lpstr>
      <vt:lpstr> DATA SETS</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FINDIT: A LOCATION-BASED LOST AND FOUND PLATFORM</dc:title>
  <dc:creator>navitha t</dc:creator>
  <cp:lastModifiedBy>Potharaboina Prasad</cp:lastModifiedBy>
  <cp:revision>10</cp:revision>
  <dcterms:created xsi:type="dcterms:W3CDTF">2025-02-14T15:37:43Z</dcterms:created>
  <dcterms:modified xsi:type="dcterms:W3CDTF">2025-04-18T14:17:48Z</dcterms:modified>
</cp:coreProperties>
</file>